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5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26517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lix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66928"/>
            <a:ext cx="2011680" cy="1052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9659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RepurposeIQ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400" b="0">
                <a:solidFill>
                  <a:srgbClr val="E7EFEA"/>
                </a:solidFill>
                <a:latin typeface="Segoe UI"/>
              </a:rPr>
              <a:t>Three Repurposing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8860B"/>
                </a:solidFill>
                <a:latin typeface="Segoe UI"/>
              </a:rPr>
              <a:t>01  </a:t>
            </a:r>
            <a:r>
              <a:rPr sz="1300" b="0">
                <a:solidFill>
                  <a:srgbClr val="D9E4DE"/>
                </a:solidFill>
                <a:latin typeface="Segoe UI"/>
              </a:rPr>
              <a:t>Palbociclib — non-oncology repurposing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8860B"/>
                </a:solidFill>
                <a:latin typeface="Segoe UI"/>
              </a:rPr>
              <a:t>02  </a:t>
            </a:r>
            <a:r>
              <a:rPr sz="1300" b="0">
                <a:solidFill>
                  <a:srgbClr val="D9E4DE"/>
                </a:solidFill>
                <a:latin typeface="Segoe UI"/>
              </a:rPr>
              <a:t>Erlotinib — dermatology / ophthalmology indications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8860B"/>
                </a:solidFill>
                <a:latin typeface="Segoe UI"/>
              </a:rPr>
              <a:t>03  </a:t>
            </a:r>
            <a:r>
              <a:rPr sz="1300" b="0">
                <a:solidFill>
                  <a:srgbClr val="D9E4DE"/>
                </a:solidFill>
                <a:latin typeface="Segoe UI"/>
              </a:rPr>
              <a:t>Vitiligo — candidate molecules for repurposing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AFC3BA"/>
                </a:solidFill>
                <a:latin typeface="Segoe UI"/>
              </a:rPr>
              <a:t>Solix  ·  Drug Repurposing Platform  ·  2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F5B"/>
                </a:solidFill>
                <a:latin typeface="Segoe UI"/>
              </a:rPr>
              <a:t>CASE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8778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F2A24"/>
                </a:solidFill>
                <a:latin typeface="Segoe UI"/>
              </a:rPr>
              <a:t>Palbociclib — Non-Oncology Repurposing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6B776E"/>
                </a:solidFill>
                <a:latin typeface="Segoe UI"/>
              </a:rPr>
              <a:t>Finding new indications outside cancer for a CDK4/6 inhibitor</a:t>
            </a:r>
          </a:p>
        </p:txBody>
      </p:sp>
      <p:pic>
        <p:nvPicPr>
          <p:cNvPr id="5" name="Picture 4" descr="solix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1234440" cy="6461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572768"/>
            <a:ext cx="11109960" cy="17780"/>
          </a:xfrm>
          <a:prstGeom prst="rect">
            <a:avLst/>
          </a:prstGeom>
          <a:solidFill>
            <a:srgbClr val="DD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47088"/>
            <a:ext cx="4434840" cy="4160520"/>
          </a:xfrm>
          <a:prstGeom prst="roundRect">
            <a:avLst>
              <a:gd name="adj" fmla="val 5500"/>
            </a:avLst>
          </a:prstGeom>
          <a:solidFill>
            <a:srgbClr val="FFFDF9"/>
          </a:solidFill>
          <a:ln w="9525">
            <a:solidFill>
              <a:srgbClr val="DD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47088"/>
            <a:ext cx="4434840" cy="457200"/>
          </a:xfrm>
          <a:prstGeom prst="roundRect">
            <a:avLst>
              <a:gd name="adj" fmla="val 5500"/>
            </a:avLst>
          </a:prstGeom>
          <a:solidFill>
            <a:srgbClr val="E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3977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45546"/>
                </a:solidFill>
                <a:latin typeface="Segoe UI"/>
              </a:rPr>
              <a:t>THE DRUG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50592"/>
            <a:ext cx="39776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Class:  </a:t>
            </a:r>
            <a:r>
              <a:rPr sz="1100" b="0">
                <a:solidFill>
                  <a:srgbClr val="45524A"/>
                </a:solidFill>
                <a:latin typeface="Segoe UI"/>
              </a:rPr>
              <a:t>selective, oral CDK4/6 inhibitor (Ibrance)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Target / MoA:  </a:t>
            </a:r>
            <a:r>
              <a:rPr sz="1100" b="0">
                <a:solidFill>
                  <a:srgbClr val="45524A"/>
                </a:solidFill>
                <a:latin typeface="Segoe UI"/>
              </a:rPr>
              <a:t>inhibits CDK4 &amp; CDK6 → blocks Rb phosphorylation → halts E2F-driven G1→S cell-cycle progression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Approved use:  </a:t>
            </a:r>
            <a:r>
              <a:rPr sz="1100" b="0">
                <a:solidFill>
                  <a:srgbClr val="45524A"/>
                </a:solidFill>
                <a:latin typeface="Segoe UI"/>
              </a:rPr>
              <a:t>HR+ / HER2− advanced or metastatic breast cancer, with endocrine therapy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Key pathways:  </a:t>
            </a:r>
            <a:r>
              <a:rPr sz="1100" b="0">
                <a:solidFill>
                  <a:srgbClr val="45524A"/>
                </a:solidFill>
                <a:latin typeface="Segoe UI"/>
              </a:rPr>
              <a:t>CDK4/6–Cyclin D–Rb–E2F; cellular senescence (SASP); NF-κB inflammatory signaling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93792" y="1847088"/>
            <a:ext cx="6464808" cy="1298448"/>
          </a:xfrm>
          <a:prstGeom prst="roundRect">
            <a:avLst>
              <a:gd name="adj" fmla="val 5500"/>
            </a:avLst>
          </a:prstGeom>
          <a:solidFill>
            <a:srgbClr val="F3EEE0"/>
          </a:solidFill>
          <a:ln w="9525">
            <a:solidFill>
              <a:srgbClr val="E3D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975104"/>
            <a:ext cx="5961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8A6309"/>
                </a:solidFill>
                <a:latin typeface="Segoe UI"/>
              </a:rPr>
              <a:t>WHAT WE UNDERSTOOD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2304288"/>
            <a:ext cx="5961888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F2A24"/>
                </a:solidFill>
                <a:latin typeface="Segoe UI"/>
              </a:rPr>
              <a:t>“Non-oncology repurposing” = surface NEW disease areas outside cancer that exploit CDK4/6 and senescence / inflammation biology — not another tumour 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3310128"/>
            <a:ext cx="6464808" cy="2697480"/>
          </a:xfrm>
          <a:prstGeom prst="roundRect">
            <a:avLst>
              <a:gd name="adj" fmla="val 5500"/>
            </a:avLst>
          </a:prstGeom>
          <a:solidFill>
            <a:srgbClr val="FFFDF9"/>
          </a:solidFill>
          <a:ln w="9525">
            <a:solidFill>
              <a:srgbClr val="DD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93792" y="3310128"/>
            <a:ext cx="6464808" cy="457200"/>
          </a:xfrm>
          <a:prstGeom prst="roundRect">
            <a:avLst>
              <a:gd name="adj" fmla="val 5500"/>
            </a:avLst>
          </a:prstGeom>
          <a:solidFill>
            <a:srgbClr val="2F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8112" y="3392424"/>
            <a:ext cx="59618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HOW REPURPOSEIQ SOLVES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3931920"/>
            <a:ext cx="591616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Engine:  </a:t>
            </a:r>
            <a:r>
              <a:rPr sz="1100" b="0">
                <a:solidFill>
                  <a:srgbClr val="45524A"/>
                </a:solidFill>
                <a:latin typeface="Segoe UI"/>
              </a:rPr>
              <a:t>reverse-repurposing (drug → indications) with the therapeutic-area filter set to EXCLUDE oncology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Method:  </a:t>
            </a:r>
            <a:r>
              <a:rPr sz="1100" b="0">
                <a:solidFill>
                  <a:srgbClr val="45524A"/>
                </a:solidFill>
                <a:latin typeface="Segoe UI"/>
              </a:rPr>
              <a:t>drug targets (CDK4/6) → Open Targets target→disease → subtract known uses → canonical 6-dimension score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Mechanistic angle:  </a:t>
            </a:r>
            <a:r>
              <a:rPr sz="1100" b="0">
                <a:solidFill>
                  <a:srgbClr val="45524A"/>
                </a:solidFill>
                <a:latin typeface="Segoe UI"/>
              </a:rPr>
              <a:t>senescence &amp; NF-κB rationale points at fibrotic and immune-inflammatory directions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Each candidate carries:  </a:t>
            </a:r>
            <a:r>
              <a:rPr sz="1100" b="0">
                <a:solidFill>
                  <a:srgbClr val="45524A"/>
                </a:solidFill>
                <a:latin typeface="Segoe UI"/>
              </a:rPr>
              <a:t>canonical repurposing score, probability-of-success, phase-aware regulatory verdict, 505(b)(2) 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109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9C"/>
                </a:solidFill>
                <a:latin typeface="Segoe UI"/>
              </a:rPr>
              <a:t>Reverse-repurposing engine · ChEMBL mechanisms + Open Targets associations · scored by the platform's canonical drug↔indication pair 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F5B"/>
                </a:solidFill>
                <a:latin typeface="Segoe UI"/>
              </a:rPr>
              <a:t>CASE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8778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F2A24"/>
                </a:solidFill>
                <a:latin typeface="Segoe UI"/>
              </a:rPr>
              <a:t>Erlotinib — Dermatology / Ophthalmology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6B776E"/>
                </a:solidFill>
                <a:latin typeface="Segoe UI"/>
              </a:rPr>
              <a:t>Repurposing an EGFR inhibitor into skin &amp; eye indications</a:t>
            </a:r>
          </a:p>
        </p:txBody>
      </p:sp>
      <p:pic>
        <p:nvPicPr>
          <p:cNvPr id="5" name="Picture 4" descr="solix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1234440" cy="6461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572768"/>
            <a:ext cx="11109960" cy="17780"/>
          </a:xfrm>
          <a:prstGeom prst="rect">
            <a:avLst/>
          </a:prstGeom>
          <a:solidFill>
            <a:srgbClr val="DD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47088"/>
            <a:ext cx="4434840" cy="4160520"/>
          </a:xfrm>
          <a:prstGeom prst="roundRect">
            <a:avLst>
              <a:gd name="adj" fmla="val 5500"/>
            </a:avLst>
          </a:prstGeom>
          <a:solidFill>
            <a:srgbClr val="FFFDF9"/>
          </a:solidFill>
          <a:ln w="9525">
            <a:solidFill>
              <a:srgbClr val="DD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47088"/>
            <a:ext cx="4434840" cy="457200"/>
          </a:xfrm>
          <a:prstGeom prst="roundRect">
            <a:avLst>
              <a:gd name="adj" fmla="val 5500"/>
            </a:avLst>
          </a:prstGeom>
          <a:solidFill>
            <a:srgbClr val="E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3977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45546"/>
                </a:solidFill>
                <a:latin typeface="Segoe UI"/>
              </a:rPr>
              <a:t>THE DRUG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50592"/>
            <a:ext cx="39776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Class:  </a:t>
            </a:r>
            <a:r>
              <a:rPr sz="1100" b="0">
                <a:solidFill>
                  <a:srgbClr val="45524A"/>
                </a:solidFill>
                <a:latin typeface="Segoe UI"/>
              </a:rPr>
              <a:t>reversible, oral EGFR (HER1) tyrosine-kinase inhibitor (Tarceva)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Target / MoA:  </a:t>
            </a:r>
            <a:r>
              <a:rPr sz="1100" b="0">
                <a:solidFill>
                  <a:srgbClr val="45524A"/>
                </a:solidFill>
                <a:latin typeface="Segoe UI"/>
              </a:rPr>
              <a:t>competes at the EGFR ATP site → blocks receptor autophosphorylation → shuts down RAS–MAPK and PI3K–AKT signaling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Approved use:  </a:t>
            </a:r>
            <a:r>
              <a:rPr sz="1100" b="0">
                <a:solidFill>
                  <a:srgbClr val="45524A"/>
                </a:solidFill>
                <a:latin typeface="Segoe UI"/>
              </a:rPr>
              <a:t>EGFR-mutation NSCLC; locally advanced / metastatic pancreatic cancer (with gemcitabine)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Key pathways:  </a:t>
            </a:r>
            <a:r>
              <a:rPr sz="1100" b="0">
                <a:solidFill>
                  <a:srgbClr val="45524A"/>
                </a:solidFill>
                <a:latin typeface="Segoe UI"/>
              </a:rPr>
              <a:t>EGFR–RAS–MAPK; EGFR–PI3K–AKT; keratinocyte proliferation &amp; ocular-surface homeostasis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93792" y="1847088"/>
            <a:ext cx="6464808" cy="1298448"/>
          </a:xfrm>
          <a:prstGeom prst="roundRect">
            <a:avLst>
              <a:gd name="adj" fmla="val 5500"/>
            </a:avLst>
          </a:prstGeom>
          <a:solidFill>
            <a:srgbClr val="F3EEE0"/>
          </a:solidFill>
          <a:ln w="9525">
            <a:solidFill>
              <a:srgbClr val="E3D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975104"/>
            <a:ext cx="5961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8A6309"/>
                </a:solidFill>
                <a:latin typeface="Segoe UI"/>
              </a:rPr>
              <a:t>WHAT WE UNDERSTOOD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2304288"/>
            <a:ext cx="5961888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F2A24"/>
                </a:solidFill>
                <a:latin typeface="Segoe UI"/>
              </a:rPr>
              <a:t>Repurpose Erlotinib into SKIN and EYE indications where EGFR-driven hyperproliferation or inflammation is the mechanism — a targeted-area repurposing, not oncology.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3310128"/>
            <a:ext cx="6464808" cy="2697480"/>
          </a:xfrm>
          <a:prstGeom prst="roundRect">
            <a:avLst>
              <a:gd name="adj" fmla="val 5500"/>
            </a:avLst>
          </a:prstGeom>
          <a:solidFill>
            <a:srgbClr val="FFFDF9"/>
          </a:solidFill>
          <a:ln w="9525">
            <a:solidFill>
              <a:srgbClr val="DD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93792" y="3310128"/>
            <a:ext cx="6464808" cy="457200"/>
          </a:xfrm>
          <a:prstGeom prst="roundRect">
            <a:avLst>
              <a:gd name="adj" fmla="val 5500"/>
            </a:avLst>
          </a:prstGeom>
          <a:solidFill>
            <a:srgbClr val="2F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8112" y="3392424"/>
            <a:ext cx="59618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HOW REPURPOSEIQ SOLVES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3931920"/>
            <a:ext cx="591616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Engine:  </a:t>
            </a:r>
            <a:r>
              <a:rPr sz="1100" b="0">
                <a:solidFill>
                  <a:srgbClr val="45524A"/>
                </a:solidFill>
                <a:latin typeface="Segoe UI"/>
              </a:rPr>
              <a:t>reverse-repurposing with therapeutic-area filter = Dermatology + Ophthalmology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Area logic:  </a:t>
            </a:r>
            <a:r>
              <a:rPr sz="1100" b="0">
                <a:solidFill>
                  <a:srgbClr val="45524A"/>
                </a:solidFill>
                <a:latin typeface="Segoe UI"/>
              </a:rPr>
              <a:t>uses Open Targets' own therapeuticAreas annotation, not a hand-kept keyword list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Method:  </a:t>
            </a:r>
            <a:r>
              <a:rPr sz="1100" b="0">
                <a:solidFill>
                  <a:srgbClr val="45524A"/>
                </a:solidFill>
                <a:latin typeface="Segoe UI"/>
              </a:rPr>
              <a:t>EGFR target → area-filtered disease associations → canonical score + direction-aware mechanism check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Built-in context:  </a:t>
            </a:r>
            <a:r>
              <a:rPr sz="1100" b="0">
                <a:solidFill>
                  <a:srgbClr val="45524A"/>
                </a:solidFill>
                <a:latin typeface="Segoe UI"/>
              </a:rPr>
              <a:t>EGFR inhibition's known cutaneous pharmacology is surfaced as mechanistic support and a safety consideration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109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9C"/>
                </a:solidFill>
                <a:latin typeface="Segoe UI"/>
              </a:rPr>
              <a:t>Reverse-repurposing engine, therapeutic-area scoped · Open Targets therapeuticAreas + ChEMBL · canonical pair score with direction-aware mechanism.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F5B"/>
                </a:solidFill>
                <a:latin typeface="Segoe UI"/>
              </a:rPr>
              <a:t>CASE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8778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F2A24"/>
                </a:solidFill>
                <a:latin typeface="Segoe UI"/>
              </a:rPr>
              <a:t>Vitiligo — Candidate Molecules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6B776E"/>
                </a:solidFill>
                <a:latin typeface="Segoe UI"/>
              </a:rPr>
              <a:t>Disease → drug: finding molecules to repurpose for vitiligo</a:t>
            </a:r>
          </a:p>
        </p:txBody>
      </p:sp>
      <p:pic>
        <p:nvPicPr>
          <p:cNvPr id="5" name="Picture 4" descr="solix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1234440" cy="6461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572768"/>
            <a:ext cx="11109960" cy="17780"/>
          </a:xfrm>
          <a:prstGeom prst="rect">
            <a:avLst/>
          </a:prstGeom>
          <a:solidFill>
            <a:srgbClr val="DD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47088"/>
            <a:ext cx="4434840" cy="4160520"/>
          </a:xfrm>
          <a:prstGeom prst="roundRect">
            <a:avLst>
              <a:gd name="adj" fmla="val 5500"/>
            </a:avLst>
          </a:prstGeom>
          <a:solidFill>
            <a:srgbClr val="FFFDF9"/>
          </a:solidFill>
          <a:ln w="9525">
            <a:solidFill>
              <a:srgbClr val="DD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47088"/>
            <a:ext cx="4434840" cy="457200"/>
          </a:xfrm>
          <a:prstGeom prst="roundRect">
            <a:avLst>
              <a:gd name="adj" fmla="val 5500"/>
            </a:avLst>
          </a:prstGeom>
          <a:solidFill>
            <a:srgbClr val="E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3977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45546"/>
                </a:solidFill>
                <a:latin typeface="Segoe UI"/>
              </a:rPr>
              <a:t>THE DISEASE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50592"/>
            <a:ext cx="39776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Definition:  </a:t>
            </a:r>
            <a:r>
              <a:rPr sz="1100" b="0">
                <a:solidFill>
                  <a:srgbClr val="45524A"/>
                </a:solidFill>
                <a:latin typeface="Segoe UI"/>
              </a:rPr>
              <a:t>chronic autoimmune depigmentation — progressive loss of epidermal melanocytes → white macules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Epidemiology:  </a:t>
            </a:r>
            <a:r>
              <a:rPr sz="1100" b="0">
                <a:solidFill>
                  <a:srgbClr val="45524A"/>
                </a:solidFill>
                <a:latin typeface="Segoe UI"/>
              </a:rPr>
              <a:t>~0.5–1% global prevalence; high psychosocial burden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Core biology:  </a:t>
            </a:r>
            <a:r>
              <a:rPr sz="1100" b="0">
                <a:solidFill>
                  <a:srgbClr val="45524A"/>
                </a:solidFill>
                <a:latin typeface="Segoe UI"/>
              </a:rPr>
              <a:t>CD8+ T-cell melanocyte killing; IFN-γ → JAK1/JAK2–STAT1 → CXCL9/10/11 → CXCR3+ T-cell recruitment; melanocyte oxidative stress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Treatment gap:  </a:t>
            </a:r>
            <a:r>
              <a:rPr sz="1100" b="0">
                <a:solidFill>
                  <a:srgbClr val="45524A"/>
                </a:solidFill>
                <a:latin typeface="Segoe UI"/>
              </a:rPr>
              <a:t>steroids / calcineurin inhibitors, phototherapy; topical ruxolitinib (JAK1/2) recently approved — validates the axis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93792" y="1847088"/>
            <a:ext cx="6464808" cy="1298448"/>
          </a:xfrm>
          <a:prstGeom prst="roundRect">
            <a:avLst>
              <a:gd name="adj" fmla="val 5500"/>
            </a:avLst>
          </a:prstGeom>
          <a:solidFill>
            <a:srgbClr val="F3EEE0"/>
          </a:solidFill>
          <a:ln w="9525">
            <a:solidFill>
              <a:srgbClr val="E3D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975104"/>
            <a:ext cx="5961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8A6309"/>
                </a:solidFill>
                <a:latin typeface="Segoe UI"/>
              </a:rPr>
              <a:t>WHAT WE UNDERSTOOD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2304288"/>
            <a:ext cx="5961888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F2A24"/>
                </a:solidFill>
                <a:latin typeface="Segoe UI"/>
              </a:rPr>
              <a:t>Disease → drug direction: find CANDIDATE MOLECULES to repurpose FOR vitiligo, mechanistically anchored on its driver pathway.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3310128"/>
            <a:ext cx="6464808" cy="2697480"/>
          </a:xfrm>
          <a:prstGeom prst="roundRect">
            <a:avLst>
              <a:gd name="adj" fmla="val 5500"/>
            </a:avLst>
          </a:prstGeom>
          <a:solidFill>
            <a:srgbClr val="FFFDF9"/>
          </a:solidFill>
          <a:ln w="9525">
            <a:solidFill>
              <a:srgbClr val="DD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93792" y="3310128"/>
            <a:ext cx="6464808" cy="457200"/>
          </a:xfrm>
          <a:prstGeom prst="roundRect">
            <a:avLst>
              <a:gd name="adj" fmla="val 5500"/>
            </a:avLst>
          </a:prstGeom>
          <a:solidFill>
            <a:srgbClr val="2F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8112" y="3392424"/>
            <a:ext cx="59618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HOW REPURPOSEIQ SOLVES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3931920"/>
            <a:ext cx="591616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Engines:  </a:t>
            </a:r>
            <a:r>
              <a:rPr sz="1100" b="0">
                <a:solidFill>
                  <a:srgbClr val="45524A"/>
                </a:solidFill>
                <a:latin typeface="Segoe UI"/>
              </a:rPr>
              <a:t>forward discovery (disease → compound) + pathway-first screen anchored on JAK-STAT / IFN-γ signaling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Method:  </a:t>
            </a:r>
            <a:r>
              <a:rPr sz="1100" b="0">
                <a:solidFill>
                  <a:srgbClr val="45524A"/>
                </a:solidFill>
                <a:latin typeface="Segoe UI"/>
              </a:rPr>
              <a:t>vitiligo → disease genes &amp; pathways → drugs that modulate them in the corrective direction → canonical pair score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Illustrative class:  </a:t>
            </a:r>
            <a:r>
              <a:rPr sz="1100" b="0">
                <a:solidFill>
                  <a:srgbClr val="45524A"/>
                </a:solidFill>
                <a:latin typeface="Segoe UI"/>
              </a:rPr>
              <a:t>JAK inhibitors (ruxolitinib, tofacitinib, baricitinib) and other IFN-γ / CXCR3-axis modulators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1">
                <a:solidFill>
                  <a:srgbClr val="1F2A24"/>
                </a:solidFill>
                <a:latin typeface="Segoe UI"/>
              </a:rPr>
              <a:t>Each candidate:  </a:t>
            </a:r>
            <a:r>
              <a:rPr sz="1100" b="0">
                <a:solidFill>
                  <a:srgbClr val="45524A"/>
                </a:solidFill>
                <a:latin typeface="Segoe UI"/>
              </a:rPr>
              <a:t>mechanistic evidence chain, canonical score, probability-of-success; optional docking / QM on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109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9C"/>
                </a:solidFill>
                <a:latin typeface="Segoe UI"/>
              </a:rPr>
              <a:t>Forward discovery + pathway-first engines (JAK-STAT anchor) · disease resolved via MeSH + Open Targets · canonical pair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45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lix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1371600" cy="7179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How the platform works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D9E4DE"/>
                </a:solidFill>
                <a:latin typeface="Segoe UI"/>
              </a:rPr>
              <a:t>One engine set behind all three use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5500"/>
            </a:avLst>
          </a:prstGeom>
          <a:solidFill>
            <a:srgbClr val="FFFDF9"/>
          </a:solidFill>
          <a:ln w="9525">
            <a:solidFill>
              <a:srgbClr val="DD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82296" cy="1600200"/>
          </a:xfrm>
          <a:prstGeom prst="rect">
            <a:avLst/>
          </a:prstGeom>
          <a:solidFill>
            <a:srgbClr val="2F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45546"/>
                </a:solidFill>
                <a:latin typeface="Segoe UI"/>
              </a:rPr>
              <a:t>Two directions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41448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0">
                <a:solidFill>
                  <a:srgbClr val="45524A"/>
                </a:solidFill>
                <a:latin typeface="Segoe UI"/>
              </a:rPr>
              <a:t>Reverse: drug → new indications (Cases 1 &amp; 2)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0">
                <a:solidFill>
                  <a:srgbClr val="45524A"/>
                </a:solidFill>
                <a:latin typeface="Segoe UI"/>
              </a:rPr>
              <a:t>Forward / pathway-first: disease → candidate molecules (Case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440680" cy="1965960"/>
          </a:xfrm>
          <a:prstGeom prst="roundRect">
            <a:avLst>
              <a:gd name="adj" fmla="val 5500"/>
            </a:avLst>
          </a:prstGeom>
          <a:solidFill>
            <a:srgbClr val="FFFDF9"/>
          </a:solidFill>
          <a:ln w="9525">
            <a:solidFill>
              <a:srgbClr val="DD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65960"/>
            <a:ext cx="82296" cy="1600200"/>
          </a:xfrm>
          <a:prstGeom prst="rect">
            <a:avLst/>
          </a:prstGeom>
          <a:solidFill>
            <a:srgbClr val="2F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6596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45546"/>
                </a:solidFill>
                <a:latin typeface="Segoe UI"/>
              </a:rPr>
              <a:t>Every claim is a scored pair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441448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0">
                <a:solidFill>
                  <a:srgbClr val="45524A"/>
                </a:solidFill>
                <a:latin typeface="Segoe UI"/>
              </a:rPr>
              <a:t>Drug ↔ indication scored by the canonical 6-dimension repurposing score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0">
                <a:solidFill>
                  <a:srgbClr val="45524A"/>
                </a:solidFill>
                <a:latin typeface="Segoe UI"/>
              </a:rPr>
              <a:t>Direction-aware mechanism check (corrector vs mimic)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40"/>
            <a:ext cx="5440680" cy="1965960"/>
          </a:xfrm>
          <a:prstGeom prst="roundRect">
            <a:avLst>
              <a:gd name="adj" fmla="val 5500"/>
            </a:avLst>
          </a:prstGeom>
          <a:solidFill>
            <a:srgbClr val="FFFDF9"/>
          </a:solidFill>
          <a:ln w="9525">
            <a:solidFill>
              <a:srgbClr val="DD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60520"/>
            <a:ext cx="82296" cy="1600200"/>
          </a:xfrm>
          <a:prstGeom prst="rect">
            <a:avLst/>
          </a:prstGeom>
          <a:solidFill>
            <a:srgbClr val="2F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16052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45546"/>
                </a:solidFill>
                <a:latin typeface="Segoe UI"/>
              </a:rPr>
              <a:t>Decision-grade enrichment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636008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0">
                <a:solidFill>
                  <a:srgbClr val="45524A"/>
                </a:solidFill>
                <a:latin typeface="Segoe UI"/>
              </a:rPr>
              <a:t>Probability-of-success + phase-aware regulatory verdict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0">
                <a:solidFill>
                  <a:srgbClr val="45524A"/>
                </a:solidFill>
                <a:latin typeface="Segoe UI"/>
              </a:rPr>
              <a:t>505(b)(2) framing; optional docking / QM on leads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77640"/>
            <a:ext cx="5440680" cy="1965960"/>
          </a:xfrm>
          <a:prstGeom prst="roundRect">
            <a:avLst>
              <a:gd name="adj" fmla="val 5500"/>
            </a:avLst>
          </a:prstGeom>
          <a:solidFill>
            <a:srgbClr val="FFFDF9"/>
          </a:solidFill>
          <a:ln w="9525">
            <a:solidFill>
              <a:srgbClr val="DD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160520"/>
            <a:ext cx="82296" cy="1600200"/>
          </a:xfrm>
          <a:prstGeom prst="rect">
            <a:avLst/>
          </a:prstGeom>
          <a:solidFill>
            <a:srgbClr val="2F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416052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45546"/>
                </a:solidFill>
                <a:latin typeface="Segoe UI"/>
              </a:rPr>
              <a:t>Grounded in real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636008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0">
                <a:solidFill>
                  <a:srgbClr val="45524A"/>
                </a:solidFill>
                <a:latin typeface="Segoe UI"/>
              </a:rPr>
              <a:t>ChEMBL mechanisms, Open Targets associations, curated pathways, MeSH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F6F5B"/>
                </a:solidFill>
                <a:latin typeface="Segoe UI"/>
              </a:rPr>
              <a:t>•  </a:t>
            </a:r>
            <a:r>
              <a:rPr sz="1100" b="0">
                <a:solidFill>
                  <a:srgbClr val="45524A"/>
                </a:solidFill>
                <a:latin typeface="Segoe UI"/>
              </a:rPr>
              <a:t>Understands partial fits: primary disorder ↔ systemic manifestations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825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39C"/>
                </a:solidFill>
                <a:latin typeface="Segoe UI"/>
              </a:rPr>
              <a:t>RepurposeIQ  ·  Solix  ·  2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