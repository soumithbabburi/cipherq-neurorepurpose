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slide. RepurposeIQ is an internal decision-support platform for drug repurposing, built for Solix / the Alembic 505(b)(2) engagement. Frame the talk: we will walk the whole system top to bottom — the problem, the architecture, the data sources, every functional module, the scoring science, the docking stack, and — most importantly — what we have rigorously validated versus what remains heuristic. The through-line of this deck is HONESTY: the platform is designed so a pharma-grade, skeptical audience can trust the numbers, because every claim is either validated against a gold standard or explicitly labelled as an estimate.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RepurposeIQ answers three linked questions with one shared scoring core. The FORWARD direction is classic discovery (disease → drugs). The REVERSE direction is the commercial heart of the Alembic engagement: take a molecule the client already has approval for and find new indications that can be pursued via the FDA 505(b)(2) pathway (which lets you rely on existing safety data). The PATHWAY and NOVEL-TARGET entries let a scientist start from biology rather than a disease name. Emphasise the design stance — no disease is hardcoded, so the same engine works for neurology, oncology, cardiology, etc. Everything is fail-soft: if a data source is down, the platform degrades gracefully rather than breaking.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scientific and commercial problem. Right: the platform's answer. The key commercial insight is the 505(b)(2) regulatory pathway — a repurposed molecule can lean on existing safety and manufacturing data, dramatically cutting cost and time versus a new molecular entity. The hard part is FINDING and RANKING credible drug-disease pairs from a sea of weak associations, and doing it with evidence a pharma partner will actually trust. The platform exists because generic association scores are noisy and un-trustworthy; RepurposeIQ layers real mechanistic, clinical, structural and regulatory evidence and — critically — tells you how much to trust each number.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Next we cover the layered architecture, the technology stack, the compute environments, and the full data-source map. This is the 'how it's built' portion before we go module by module.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layers. PRESENTATION is a Flask application serving both server-rendered pages and a JSON API consumed by the front-end JavaScript; molecular structures render in-browser with 3Dmol.js. SERVICES is the bulk of the IP — around fifty focused modules. DATA spans a local PostgreSQL (the validated ChEMBL 33 database plus a neurorepurpose DB holding the Hetionet knowledge graph), local knowledge-graph files, and roughly twenty live external APIs. COMPUTE is the heavy science: real docking, real quantum chemistry, fitted ML models, and ODE-based pharmacokinetics. The whole thing is glued by cross-cutting infrastructure — one config source of truth, one HTTP client with retry/backoff, a shared disk cache, and fail-soft behaviour so no single dependency can take the platform down.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stack. The app is Flask on Python 3.12 in the .venv312 virtualenv. Data lives in PostgreSQL on port 5433 — two databases: chembl_33 (the validated ChEMBL release, shared with the POZ project) and neurorepurpose (Hetionet + platform tables). The heavy-science compute uses separate micromamba environments under .qc/ so their dependencies never collide with the app. Cheminformatics is RDKit; ML is scikit-learn; the PBPK solver is scipy LSODA. Docking is the official AutoDock Vina Windows binary driven through a drugdisc-agent env (Meeko, pdbfixer, OpenBabel). Quantum chemistry is GFN2-xTB via its own env. Everything is Windows-native.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key engineering decision: the heavy scientific dependencies live in SEPARATE micromamba environments, not the app venv. AutoDock Vina and fpocket have no Windows conda build, so we use the official Vina Windows CLI binary and run the prep chemistry (Meeko, pdbfixer, OpenBabel) in a dedicated drugdisc-agent env. Quantum chemistry runs in its own qc env. The Flask app never imports these heavy libraries directly — it writes a job file and shells out to a worker script running under the right env python, then reads back JSON. This keeps the app lightweight and means a broken scientific dependency can never crash the web tier. AtomisticSkills (from MIT's Learning Matter lab) is vendored as the reference implementation for the docking recipes.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RepurposeIQ separates data into curated/local (trusted, validated once, queried fast) and live external APIs (fresh, but rate-limited and cached). This slide is the local foundation. ChEMBL 33 is the backbone — compounds, targets, mechanisms, indications, activities — restored and integrity-checked (the data-validation workstream). Hetionet is the curated biomedical knowledge graph (~47k nodes, gold-standard 'treats' edges) that powers the validated predictor. DRKG and RepoDB add drug-repurposing edges and a labelled outcome benchmark. MeSH and the Orange Book add disease vocabulary and FDA patent/exclusivity status. The point for a pharma audience: the foundation is authoritative, validated once at the data layer, not scraped ad hoc.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live layer. Each call goes through the shared HTTP client (retry, backoff, timeout) and is disk-cached, so we are polite to upstreams and resilient. Open Targets supplies genetic target-disease associations and pathways; STRING supplies the protein-protein interaction network; Reactome supplies pathway membership. Clinical reality comes from ClinicalTrials.gov (plus WHO ICTRP and India's CTRI for global trials), PubMed for literature co-mention, and openFDA for adverse-event (FAERS) and drug-label signals. Structure comes from RCSB PDB, AlphaFold and UniProt. Regulatory landscape pulls FDA, EMA, MHRA and Indian sources plus Google Patents. Stress that all of this is cached and fail-soft — the platform never blocks on a slow API.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spine of the platform — every page is a view onto this pipeline. Resolution turns a free-text query into structured identifiers and biology. Candidate generation pulls from multiple orthogonal sources so we discover rather than merely confirm. Evidence gathering assembles the raw signals. Scoring combines them in the canonical composite. Calibration makes the number interpretable — both relative to a random-pair background and, where the pair is in the knowledge graph, via the validated plausibility probability. Enrichment adds the decision context a pharma team needs — probability of success, regulatory and IP status, developability, 3D docking, pharmacokinetics. Presentation renders it with honest confidence labels. Every step is cached and fail-soft.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user-facing surfaces, all sharing the same scoring core so a number means the same thing everywhere. Compound Discovery is the forward disease→drug board. Repurpose Molecule is the reverse drug→indication 505(b)(2) search. Pathway Screen and Novel Targets are the biology-first entries. Knowledge Graph visualises the evidence chain. The Analysis / Dossier page is the deep per-candidate view with docking, QM, PBPK and the 505(b)(2) write-up. Database, Validation, Business Case, Docs and Settings round it out. Nav is consistent; each page is a thin front-end over the JSON API.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Now module-by-module through the engines that turn a query into scored candidates: disease and drug resolution, the forward 5-screen engine, reverse repurposing, pathway-first, and novel targets.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Resolution is where disease-agnosticism is enforced. A user types anything — an abbreviation, an alias, a manifestation-qualified phrase — and this layer maps it to a canonical ontology term, then fetches the disease's genetic gene set (with association weights), pathways and PPI neighbourhood from Open Targets and STRING. The ID reconciliation module is important because the same disease has different identifiers in ChEMBL (MeSH), Open Targets (MONDO/EFO) and RepoDB (UMLS); we canonicalise so joins work. Nothing about specific diseases is hardcoded — the same code path serves any therapy area, which is what makes the platform generalise.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drug side of resolution. Given a name or ChEMBL id, we pull the compound's protein targets (as gene symbols), its global development phase, its known indications and its SMILES from the validated ChEMBL database. The compound validator does RDKit-level sanity and identity checks so we never silently score or dock the wrong molecule — if a name can't be resolved, the platform says so rather than guessing. It also distinguishes a specific drug from a pharmacologic-class label, which matters when trials list a class as the 'condition'.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forward engine turns a disease into a ranked drug list. Its cleverness is candidate generation from multiple orthogonal sources — the local database, the ChEMBL API, and crucially the Hetionet knowledge graph, which surfaces drugs connected to the disease through shared genes even when they were never indicated for it. That is what makes the engine DISCOVER new hypotheses rather than just confirm known ones. Every candidate then flows through the single canonical scoring function shared by all surfaces, so the number is consistent everywhere. A second, database-centric scorer contributes indication/target/activity/network signals when useful.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scoring function — used identically by every surface via canonical_pair_score(), so a (drug, disease) pair scores the same on the repurpose card, the dossier and the pathway screen. Six weighted dimensions. TARGET is genetics-weighted overlap of the drug's targets with the disease's associated genes. PATHWAY and PPI capture network cohesion, degree-damped so hub genes don't dominate. CLINICAL is real trials + literature for THIS pair (not global phase — that would be reverse causation). INDICATION and REGULATORY capture existing-use and development status. On top sit bounded bonuses for knowledge-graph network evidence and directional literature triples. The weights shown are the base; the next slide explains the 2026 renormalization that fixed systematic harshness.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candid engineering slide. The original weighted mean had a structural flaw: for a novel repurposing pair, two of the six dimensions are near-zero BY CONSTRUCTION — if the drug were already indicated, it wouldn't be repurposing — so about a third of the weight was dead weight, capping even strong mechanistic leads at a low number. The fix renormalizes the mechanistic mass over the dimensions that actually carry disease-specific signal, while keeping the global regulatory phase as a small, non-amplified prior so an approved-but-mechanistically-irrelevant drug can't inflate. A denominator floor stops a single weak signal from running away. The result improves DISCRIMINATION — genuine leads rise, random pairs stay low — which we verified on known examples.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supporting modules behind the score. Hub-degree damping (Himmelstein's DWPC idea) down-weights promiscuous hub genes like TP53/EGFR so they can't max out cohesion for every disease. The signature engine adds DIRECTION — does the drug REVERSE the disease's expression signature (favourable) or MIMIC it (unfavourable) — a CMap/LINCS-style connectivity idea applied to pathway scoring. Directional evidence uses typed drug→gene→disease triples from DRKG (real relational support, not mere co-occurrence). Together these make the mechanistic score direction-aware and hub-robust rather than a naive overlap count.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Guardrails are multiplicative penalties that encode clinical and regulatory reality. The safety cross-filter uses FAERS disproportionality to penalise a drug whose serious toxicity hits the disease's organ system. The Clinical Constraint Harmonizer penalises a toxic drug used for a benign or chronic indication (severity/duration mismatch). Target-coverage penalises a drug that hits only part of a polygenic driver set. Two CTPA rules kill phantoms: a pair with no functional cohesion beyond a single string match, and a program that already failed/was abandoned in that indication (registry ghost). Crucially, in 2026 we COLLAPSED the soft penalties (take the single worst instead of multiplying) so they stop double-counting and crushing every score — while hard, evidence-based kills still stack.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commercial centrepiece. Reverse repurposing takes a drug the client already owns and finds new indications for it. Candidates come from three orthogonal signals so we don't miss real-world leads that pure genetics would: genetic associations, existing trials of the drug (which reveal human interest that genetics can't), and literature co-mention. We strip out on-label uses so the output is genuinely new. Ranking uses the shared canonical score; the 505(b)(2) feasibility and regulatory status are reported per candidate but deliberately kept OUT of the ranking because a drug's global status is constant and doesn't discriminate between indications. This is the /repurpose page the Alembic work centres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pathway screen lets a biologist start from a mechanism rather than a disease. You give it a pathway and the direction you want (suppress or activate); it finds the drugs that modulate the pathway's genes in that direction and the diseases the pathway drives, then emits real drug-to-new-indication pairs scored by the shared engine. A subtle but important point: the pathway modulation the screen establishes is passed INTO the canonical scorer as a mechanistic prior, so a candidate isn't scored as if it had zero mechanism when the very reason it surfaced IS a mechanism. Name resolution is fuzzy so spelling and Greek-letter variants all resolve.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the other engines confirm or extend known biology, novel-target discovery tries to find NEW biology. It takes the disease's known genetic seed genes, expands along the STRING protein-protein interaction network, and flags non-seed genes that are heavily wired into the seed set — hidden nodes one hop off the known disease module. Then it finds drugs that hit those inferred targets, giving repurposing leads reachable only through the novel target. Everything is explicitly labelled as network-inferred, not experimentally annotated, and it fails soft to an empty result rather than fabricating a target.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modules that add strategic nuance. Positive Pivots is a nice touch: rather than just penalising a hard pair and moving on, it proposes concrete hypotheses to rescue it — retarget a severe or orphan variant of the disease where a toxic drug is justified, or combine an ultra-low dose with a low-toxicity partner acting on the same target. Class comparison asks whether an observed effect is class-wide (a target effect) or specific to this molecule, which matters for IP and differentiation. The approval supplement corrects ChEMBL's tendency to lag on per-indication phase.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This is the scientific-integrity heart of the platform: how we make a raw score interpretable, how we validated it against a gold standard, what that validation revealed, and the real predictor we built as a result.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Calibration answers 'is this number good?' A raw score has no meaning without a reference, so we built a null distribution by scoring random drug-disease pairs. A real pair's ENRICHMENT — how far above the random-pair median it sits — is a defensible, discriminating statement (e.g. '9× above background'). We report tiers from raw-score bands. This slide sets up the honest question the client rightly pushed on next: those tier bands were hand-chosen. That question drove the RepoDB validation — the next three slides.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client asked exactly the right question: how do we decide the cutoff number, and did we use RepoDB? We built a validation harness and got an uncomfortable, important answer. Scoring real Approved-versus-Failed pairs, the hand-built composite achieved an AUC of 0.41 — BELOW random — meaning it actually ranked failures above successes. The reason is deep: a drug that reached a big Phase-3 trial and failed is a heavily studied, densely connected pair, so any connectivity-based score rewards it. The honest conclusion: the composite measures plausibility, not success, and any 'probability of success' cutoff derived from it would be meaningless. That finding forced the next step — a real, trained predictor.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Instead of hand-set bands, we trained a real model using the DWPC / metapath approach from the Rephetio paper — the method that actually works on Hetionet. It counts typed multi-hop paths between a drug and a disease, down-weighting hub nodes, and crucially none of the paths use the 'treats' edge, so predicting treatment from them is leakage-free. Trained on the 755 gold-standard treats edges, it reaches an AUC of 0.978 — and, importantly, the same 0.978 when we hold out ENTIRE drugs, proving it generalises to molecules it never saw rather than memorising. From its out-of-fold predictions we derive a real, Youden-optimal cutoff of 0.15. This is the rigorous answer to 'how do we decide a number.'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integrity slide. We stress-tested the excellent predictor against RepoDB's REAL failures — the hard test — and it scored 0.42: it separates plausible from random, but cannot separate eventual successes from eventual failures, because both are biologically plausible and the deciding factors — efficacy, safety, dose, pharmacokinetics — simply aren't in the graph. This is a ceiling no cheap model escapes. So we ship the predictor for what it genuinely is: a validated mechanistic-plausibility triage number with a real cutoff, wired in additively and fail-soft, and labelled in the UI with BOTH AUCs so it can never be oversold as a probability of clinical success. That intellectual honesty is a feature, not an apology.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Separate from the plausibility predictor, the PoS model estimates the probability of progressing through the remaining clinical phases, using published phase-transition base rates and adjusting for the fact that a repurposed approved molecule has much of Phase-1 safety already cleared. There is an optional machine-learned calibrator, but it is only blended in when it passes a leakage integrity gate — we explicitly REFUSE a model whose accuracy is suspiciously high, because that signals it's memorising the label via reverse causation (annotation richness reflecting approval). Another example of the honesty posture: we would rather use a modest analytic model than a leaky, impressive-looking one.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knowledge-graph layer serves two purposes. Explanatory: the BioCypher story graph turns a score into a visible evidence chain — this drug hits this gene, which sits in this pathway, which the disease implicates — which is what makes a hypothesis credible to a scientist. Predictive: we hold DistMult embeddings of the graph for link prediction, and the DWPC metapath features (from the predictor section) are computed on the same Hetionet graph. The /graph page renders the evidence chain interactively and adapts to whether the user searched a molecule or a disease.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The physical-science stack: real structure-based docking, quantum chemistry, PBPK pharmacokinetics, and the drug-like property scorers. This is what lets the platform go beyond associations to physical plausibility.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Docking is a priority chain that always returns something honest. It fetches a REAL protein structure by resolving the gene to a UniProt accession and picking the best RCSB experimental structure — now preferring HOLO structures that have a bound ligand, so there's a real binding site — falling back to a pLDDT-filtered AlphaFold model. The pocket finder detects and NAMES pockets and prefers the co-crystal functional site over the largest random cavity, which was the key fix for 'docking into the wrong place.' Poses are validated for clashes and containment. If no real structure exists, the platform says so rather than faking one.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docking upgrade this cycle. We replaced a triage-grade in-house approximation with the real AutoDock Vina engine. Because Vina's Python bindings have no Windows conda build, we use the official Vina Windows binary and run the preparation chemistry — Meeko for the ligand, pdbfixer and OpenBabel for the receptor — in the isolated drugdisc-agent environment, with the docking box centred on the real co-crystal binding site. The app just shells out and reads back SDF poses and a true binding energy. We validated it properly: redocking imatinib into its own crystal reproduced the pose to within a quarter of an Ångström at a realistic −12.6 kcal/mol. This is real structure-based science, not a heuristic.</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Vina, the platform offers alternatives. Boltz-2 predicts structure AND binding affinity directly (opt-in, needs GPU). The built-in physics engine is the guaranteed fallback — it actually translates and rotates RDKit conformers into the pocket and scores them with a Vina-style empirical function — so docking never fails to return a spatial pose. When an external engine produces poses, we cross-score them with the empirical function as an independent consensus check. The AtomisticSkills library provides the vetted recipes for protein and ligand prep and for redocking-RMSD validation.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quantum-chemistry engine runs genuine GFN2-xTB semi-empirical calculations — geometry optimization and electronic-structure properties like the HOMO-LUMO gap, dipole moment and implicit-solvent free energy. It runs in its own micromamba environment so its heavy dependencies stay isolated, and the results appear on the Analysis page's optimization tab. This is another 'real, not simulated' component — the numbers come from an actual quantum-chemistry code, not a lookup or an approximation.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PBPK module is a real physiologically-based pharmacokinetic model — a perfusion-limited compartment system solved as ODEs with scipy's LSODA integrator. It predicts how drug concentration evolves in tissues and plasma, and then compares the free-drug concentration against a MEASURED binding affinity from ChEMBL to estimate target occupancy. That closes an important loop for repurposing: it's not enough for a drug to hit the right target in principle — it has to actually reach the disease tissue at a concentration that engages the target at a feasible dose.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drug-property scorers. Developability is area-aware — it applies the correct rule set for the route implied by the disease: Lipinski and Veber for oral systemic drugs, blood-brain-barrier criteria for CNS indications, corneal-permeation criteria for eye drugs. CNS-MPO is the published Wager multiparameter score for central-nervous-system exposure, which drives a blood-brain-barrier risk flag and feeds the clinical-constraint tissue factor. Together they answer 'is this molecule actually developable for THIS indication's delivery route.'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The last layer wraps the science in the commercial and regulatory context a 505(b)(2) decision needs: the evidence dossier, regulatory/IP status, portfolio fit, and the cross-cutting infrastructure that holds it all together.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dossier is where a hypothesis becomes a decision document. It assembles the full evidence chain, the scores and their breakdown, the probability of success, the docking and PK results into a single 505(b)(2) write-up. The regulatory verdict is the single source of truth for novelty and status, and it's phase-aware: the only thing that truly disqualifies a 505(b)(2) claim is the molecule already being APPROVED for that exact disease — prior lower-phase development actually DE-RISKS the asset rather than blocking it. The Orange Book integration tells you whether the patent and exclusivity window is open, which is decisive for commercial viability.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Repurposing decisions are global, so the landscape module consolidates US, EU and Indian regulatory status into one data-driven view rather than a page of external links — where does this drug-indication pair already stand with FDA, EMA, MHRA and the Indian authorities. The acquisition-signal engine reads Orange Book and market status to flag assets that look like acquisition or in-licensing opportunities. Class comparison informs differentiation and freedom-to-operate. This is the commercial intelligence layer on top of the science.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Portfolio matching makes the output specific to the client. It cross-references the surfaced candidates against the partner's existing asset portfolio and flags — and boosts — molecules they already own, because those are the immediately actionable 505(b)(2) opportunities: no in-licensing needed, existing manufacturing, a clear path. For the Alembic engagement this is what turns a generic repurposing hit into 'here is a molecule you already hold that could open a new indication.'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unglamorous but essential layer. One config module is the single source of truth for database and environment settings, with no hardcoded credentials — everything comes from the environment. One HTTP client wraps every external call with retry, backoff and sensible timeouts. One disk cache is shared across services with long TTLs so we don't re-fetch structures or associations. The FAERS safety profiles are computed once and reused by both the scorer and the clinical-constraint layer. And the pervasive design rule is fail-soft: if any dependency is unavailable, the affected feature degrades gracefully while the rest of the platform keeps working. This robustness is what makes it demo-able and trustworthy.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section. Pull the honesty theme together into a validation scorecard, and lay out what's next.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platform's design centre of gravity is trust. Pharma skepticism is fundamentally about the DATA, so we validate it once at the data layer rather than per query: ChEMBL 33 is restore-verified and integrity-checked, shared cleanly across projects, with a verified backup. Every score exposes its full breakdown and every penalty states its reason, so nothing is a black box. And confidence is always stated honestly — enrichment against a random background, the validated plausibility probability where the pair is in the graph, and probability of success reported as its own separate number. The Validation page narrates this end to end.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important slide for a pharma partner. Be explicit about epistemic status. VALIDATED against a gold standard: the docking (redocking RMSD), the DWPC plausibility predictor (held-out AUC 0.98, compound-disjoint). REAL computation but not outcome-validated: the QM engine, PBPK, the mechanistic evidence scores — these are genuine physics/biology, and useful, but they don't claim to predict clinical success. HEURISTIC / estimate: the composite tier bands, the PoS analytic base rates, developability rules — reasonable, transparent, but not fitted. And the explicit NEGATIVE result: clinical success is NOT predictable from mechanism/network (AUC 0.42), and we say so rather than pretend. Leading with this scorecard is what earns trust.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we take it next. The biggest lever is a fresher, broader knowledge graph — Hetionet is a 2016 snapshot, which limits coverage and misses newer drugs, so a modern graph would widen the predictor's reach. A genuine (if modest) success signal may be reachable by adding genetic-evidence and clinical features — genetically supported targets are about twice as likely to be approved — but we'd validate it honestly before claiming it. On the engineering side: cleaner pose chemistry with an automated redocking-RMSD gate, broader regulatory and IP coverage, and productionizing the heavy compute behind a job queue.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restating the two things that make RepurposeIQ credible. First, breadth done right: one shared, consistent scoring core serves every entry point — forward discovery, the reverse 505(b)(2) search, pathway-first and novel-target — layered with real structure-based docking, quantum chemistry, PBPK and a knowledge-graph predictor, all disease-agnostic and fail-soft. Second, and more important for a pharma partner: intellectual honesty. We validated against a gold standard, we found and shipped a real predictor, and we drew a clear line — plausibility we can measure and stand behind; clinical success we cannot predict from mechanism and we say so. That combination — real science plus honest confidence — is the platform's actual moat.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F6F5B"/>
        </a:solidFill>
        <a:effectLst/>
      </p:bgPr>
    </p:bg>
    <p:spTree>
      <p:nvGrpSpPr>
        <p:cNvPr id="1" name=""/>
        <p:cNvGrpSpPr/>
        <p:nvPr/>
      </p:nvGrpSpPr>
      <p:grpSpPr/>
      <p:sp>
        <p:nvSpPr>
          <p:cNvPr id="2" name="Rounded Rectangle 1"/>
          <p:cNvSpPr/>
          <p:nvPr/>
        </p:nvSpPr>
        <p:spPr>
          <a:xfrm>
            <a:off x="0" y="0"/>
            <a:ext cx="292608" cy="6858000"/>
          </a:xfrm>
          <a:prstGeom prst="roundRect">
            <a:avLst>
              <a:gd name="adj" fmla="val 6000"/>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45720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800" b="1" i="0">
                <a:solidFill>
                  <a:srgbClr val="CFE0D8"/>
                </a:solidFill>
                <a:latin typeface="Calibri"/>
              </a:rPr>
              <a:t>CLINICAL REPURPOSING OS</a:t>
            </a:r>
          </a:p>
        </p:txBody>
      </p:sp>
      <p:sp>
        <p:nvSpPr>
          <p:cNvPr id="4" name="TextBox 3"/>
          <p:cNvSpPr txBox="1"/>
          <p:nvPr/>
        </p:nvSpPr>
        <p:spPr>
          <a:xfrm>
            <a:off x="822960" y="2468880"/>
            <a:ext cx="10515600" cy="164592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4600" b="1" i="0">
                <a:solidFill>
                  <a:srgbClr val="FFFDF9"/>
                </a:solidFill>
                <a:latin typeface="Calibri"/>
              </a:rPr>
              <a:t>RepurposeIQ</a:t>
            </a:r>
          </a:p>
        </p:txBody>
      </p:sp>
      <p:sp>
        <p:nvSpPr>
          <p:cNvPr id="5" name="TextBox 4"/>
          <p:cNvSpPr txBox="1"/>
          <p:nvPr/>
        </p:nvSpPr>
        <p:spPr>
          <a:xfrm>
            <a:off x="822960" y="4206240"/>
            <a:ext cx="10058400" cy="1097280"/>
          </a:xfrm>
          <a:prstGeom prst="rect">
            <a:avLst/>
          </a:prstGeom>
          <a:noFill/>
        </p:spPr>
        <p:txBody>
          <a:bodyPr wrap="square" anchor="t" lIns="45720" rIns="45720" tIns="18288" bIns="18288">
            <a:spAutoFit/>
          </a:bodyPr>
          <a:lstStyle/>
          <a:p>
            <a:pPr algn="l">
              <a:lnSpc>
                <a:spcPct val="115000"/>
              </a:lnSpc>
              <a:spcBef>
                <a:spcPts val="0"/>
              </a:spcBef>
              <a:spcAft>
                <a:spcPts val="400"/>
              </a:spcAft>
            </a:pPr>
            <a:r>
              <a:rPr sz="2000" b="0" i="0">
                <a:solidFill>
                  <a:srgbClr val="DCE7E1"/>
                </a:solidFill>
                <a:latin typeface="Calibri"/>
              </a:rPr>
              <a:t>Platform, data pipeline and system architecture — an evidence-first, honestly-validated drug-repurposing engine for 505(b)(2) decision-making.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What RepurposeIQ Is</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One platform, three questions</a:t>
            </a:r>
          </a:p>
        </p:txBody>
      </p:sp>
      <p:sp>
        <p:nvSpPr>
          <p:cNvPr id="5" name="TextBox 4"/>
          <p:cNvSpPr txBox="1"/>
          <p:nvPr/>
        </p:nvSpPr>
        <p:spPr>
          <a:xfrm>
            <a:off x="548640" y="1325880"/>
            <a:ext cx="110642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Forward: given a DISEASE, which existing drugs could treat it? (Compound Discovery)</a:t>
            </a:r>
          </a:p>
          <a:p>
            <a:pPr algn="l">
              <a:lnSpc>
                <a:spcPct val="105000"/>
              </a:lnSpc>
              <a:spcBef>
                <a:spcPts val="0"/>
              </a:spcBef>
              <a:spcAft>
                <a:spcPts val="400"/>
              </a:spcAft>
              <a:buFont typeface="Arial"/>
              <a:buChar char="▪"/>
            </a:pPr>
            <a:r>
              <a:rPr sz="1500" b="1" i="0">
                <a:solidFill>
                  <a:srgbClr val="1F2A24"/>
                </a:solidFill>
                <a:latin typeface="Calibri"/>
              </a:rPr>
              <a:t>Reverse: given a DRUG you already hold approval for, what NEW indications exist? — the 505(b)(2) search (Repurpose Molecule)</a:t>
            </a:r>
          </a:p>
          <a:p>
            <a:pPr algn="l">
              <a:lnSpc>
                <a:spcPct val="105000"/>
              </a:lnSpc>
              <a:spcBef>
                <a:spcPts val="0"/>
              </a:spcBef>
              <a:spcAft>
                <a:spcPts val="400"/>
              </a:spcAft>
              <a:buFont typeface="Arial"/>
              <a:buChar char="▪"/>
            </a:pPr>
            <a:r>
              <a:rPr sz="1500" b="1" i="0">
                <a:solidFill>
                  <a:srgbClr val="1F2A24"/>
                </a:solidFill>
                <a:latin typeface="Calibri"/>
              </a:rPr>
              <a:t>Pathway / target-first: enter through a biological PATHWAY or a novel TARGET and reach drug↔indication pairs</a:t>
            </a:r>
          </a:p>
          <a:p>
            <a:pPr algn="l">
              <a:lnSpc>
                <a:spcPct val="105000"/>
              </a:lnSpc>
              <a:spcBef>
                <a:spcPts val="0"/>
              </a:spcBef>
              <a:spcAft>
                <a:spcPts val="400"/>
              </a:spcAft>
              <a:buFont typeface="Arial"/>
              <a:buChar char="▪"/>
            </a:pPr>
            <a:r>
              <a:rPr sz="1500" b="0" i="0">
                <a:solidFill>
                  <a:srgbClr val="1F2A24"/>
                </a:solidFill>
                <a:latin typeface="Calibri"/>
              </a:rPr>
              <a:t>Every hypothesis is scored on real mechanistic + clinical evidence, wrapped in a 505(b)(2) feasibility and regulatory view</a:t>
            </a:r>
          </a:p>
          <a:p>
            <a:pPr algn="l">
              <a:lnSpc>
                <a:spcPct val="105000"/>
              </a:lnSpc>
              <a:spcBef>
                <a:spcPts val="0"/>
              </a:spcBef>
              <a:spcAft>
                <a:spcPts val="400"/>
              </a:spcAft>
              <a:buFont typeface="Arial"/>
              <a:buChar char="▪"/>
            </a:pPr>
            <a:r>
              <a:rPr sz="1500" b="0" i="0">
                <a:solidFill>
                  <a:srgbClr val="1F2A24"/>
                </a:solidFill>
                <a:latin typeface="Calibri"/>
              </a:rPr>
              <a:t>Backed by real structure-based docking, quantum chemistry, PBPK pharmacokinetics and a validated knowledge-graph predictor</a:t>
            </a:r>
          </a:p>
          <a:p>
            <a:pPr algn="l">
              <a:lnSpc>
                <a:spcPct val="105000"/>
              </a:lnSpc>
              <a:spcBef>
                <a:spcPts val="0"/>
              </a:spcBef>
              <a:spcAft>
                <a:spcPts val="400"/>
              </a:spcAft>
              <a:buFont typeface="Arial"/>
              <a:buChar char="▪"/>
            </a:pPr>
            <a:r>
              <a:rPr sz="1500" b="0" i="0">
                <a:solidFill>
                  <a:srgbClr val="1F2A24"/>
                </a:solidFill>
                <a:latin typeface="Calibri"/>
              </a:rPr>
              <a:t>Design stance: disease-AGNOSTIC (no hardcoded disease maps), evidence-first, fail-soft, and validated at the data layer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The Problem &amp; the 505(b)(2) Opportunity</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Why this platform exists</a:t>
            </a:r>
          </a:p>
        </p:txBody>
      </p:sp>
      <p:sp>
        <p:nvSpPr>
          <p:cNvPr id="5" name="TextBox 4"/>
          <p:cNvSpPr txBox="1"/>
          <p:nvPr/>
        </p:nvSpPr>
        <p:spPr>
          <a:xfrm>
            <a:off x="548640" y="1325880"/>
            <a:ext cx="55778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The problem</a:t>
            </a:r>
          </a:p>
          <a:p>
            <a:pPr algn="l" lvl="1">
              <a:lnSpc>
                <a:spcPct val="105000"/>
              </a:lnSpc>
              <a:spcBef>
                <a:spcPts val="0"/>
              </a:spcBef>
              <a:spcAft>
                <a:spcPts val="400"/>
              </a:spcAft>
              <a:buFont typeface="Arial"/>
              <a:buChar char="▪"/>
            </a:pPr>
            <a:r>
              <a:rPr sz="1350" b="0" i="0">
                <a:solidFill>
                  <a:srgbClr val="45524A"/>
                </a:solidFill>
                <a:latin typeface="Calibri"/>
              </a:rPr>
              <a:t>Repurposing hypotheses are cheap to generate, hard to rank credibly</a:t>
            </a:r>
          </a:p>
          <a:p>
            <a:pPr algn="l" lvl="1">
              <a:lnSpc>
                <a:spcPct val="105000"/>
              </a:lnSpc>
              <a:spcBef>
                <a:spcPts val="0"/>
              </a:spcBef>
              <a:spcAft>
                <a:spcPts val="400"/>
              </a:spcAft>
              <a:buFont typeface="Arial"/>
              <a:buChar char="▪"/>
            </a:pPr>
            <a:r>
              <a:rPr sz="1350" b="0" i="0">
                <a:solidFill>
                  <a:srgbClr val="45524A"/>
                </a:solidFill>
                <a:latin typeface="Calibri"/>
              </a:rPr>
              <a:t>Genetic-association scores are noisy; most links are weak/coincidental</a:t>
            </a:r>
          </a:p>
          <a:p>
            <a:pPr algn="l" lvl="1">
              <a:lnSpc>
                <a:spcPct val="105000"/>
              </a:lnSpc>
              <a:spcBef>
                <a:spcPts val="0"/>
              </a:spcBef>
              <a:spcAft>
                <a:spcPts val="400"/>
              </a:spcAft>
              <a:buFont typeface="Arial"/>
              <a:buChar char="▪"/>
            </a:pPr>
            <a:r>
              <a:rPr sz="1350" b="0" i="0">
                <a:solidFill>
                  <a:srgbClr val="45524A"/>
                </a:solidFill>
                <a:latin typeface="Calibri"/>
              </a:rPr>
              <a:t>Pharma partners distrust un-validated 'AI scores'</a:t>
            </a:r>
          </a:p>
          <a:p>
            <a:pPr algn="l" lvl="1">
              <a:lnSpc>
                <a:spcPct val="105000"/>
              </a:lnSpc>
              <a:spcBef>
                <a:spcPts val="0"/>
              </a:spcBef>
              <a:spcAft>
                <a:spcPts val="400"/>
              </a:spcAft>
              <a:buFont typeface="Arial"/>
              <a:buChar char="▪"/>
            </a:pPr>
            <a:r>
              <a:rPr sz="1350" b="0" i="0">
                <a:solidFill>
                  <a:srgbClr val="45524A"/>
                </a:solidFill>
                <a:latin typeface="Calibri"/>
              </a:rPr>
              <a:t>Success ≠ plausibility — most plausible pairs still fail in the clinic</a:t>
            </a:r>
          </a:p>
        </p:txBody>
      </p:sp>
      <p:sp>
        <p:nvSpPr>
          <p:cNvPr id="6" name="Rounded Rectangle 5"/>
          <p:cNvSpPr/>
          <p:nvPr/>
        </p:nvSpPr>
        <p:spPr>
          <a:xfrm>
            <a:off x="6172200" y="1371600"/>
            <a:ext cx="12700" cy="4846320"/>
          </a:xfrm>
          <a:prstGeom prst="roundRect">
            <a:avLst>
              <a:gd name="adj" fmla="val 6000"/>
            </a:avLst>
          </a:prstGeom>
          <a:solidFill>
            <a:srgbClr val="D8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55080" y="1325880"/>
            <a:ext cx="548640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The opportunity</a:t>
            </a:r>
          </a:p>
          <a:p>
            <a:pPr algn="l" lvl="1">
              <a:lnSpc>
                <a:spcPct val="105000"/>
              </a:lnSpc>
              <a:spcBef>
                <a:spcPts val="0"/>
              </a:spcBef>
              <a:spcAft>
                <a:spcPts val="400"/>
              </a:spcAft>
              <a:buFont typeface="Arial"/>
              <a:buChar char="▪"/>
            </a:pPr>
            <a:r>
              <a:rPr sz="1350" b="0" i="0">
                <a:solidFill>
                  <a:srgbClr val="45524A"/>
                </a:solidFill>
                <a:latin typeface="Calibri"/>
              </a:rPr>
              <a:t>505(b)(2): reuse existing safety/CMC data → faster, cheaper approval</a:t>
            </a:r>
          </a:p>
          <a:p>
            <a:pPr algn="l" lvl="1">
              <a:lnSpc>
                <a:spcPct val="105000"/>
              </a:lnSpc>
              <a:spcBef>
                <a:spcPts val="0"/>
              </a:spcBef>
              <a:spcAft>
                <a:spcPts val="400"/>
              </a:spcAft>
              <a:buFont typeface="Arial"/>
              <a:buChar char="▪"/>
            </a:pPr>
            <a:r>
              <a:rPr sz="1350" b="0" i="0">
                <a:solidFill>
                  <a:srgbClr val="45524A"/>
                </a:solidFill>
                <a:latin typeface="Calibri"/>
              </a:rPr>
              <a:t>A known-safe molecule + a new indication = de-risked asset</a:t>
            </a:r>
          </a:p>
          <a:p>
            <a:pPr algn="l" lvl="1">
              <a:lnSpc>
                <a:spcPct val="105000"/>
              </a:lnSpc>
              <a:spcBef>
                <a:spcPts val="0"/>
              </a:spcBef>
              <a:spcAft>
                <a:spcPts val="400"/>
              </a:spcAft>
              <a:buFont typeface="Arial"/>
              <a:buChar char="▪"/>
            </a:pPr>
            <a:r>
              <a:rPr sz="1350" b="0" i="0">
                <a:solidFill>
                  <a:srgbClr val="45524A"/>
                </a:solidFill>
                <a:latin typeface="Calibri"/>
              </a:rPr>
              <a:t>Need: rank pairs on REAL evidence + honest confidence</a:t>
            </a:r>
          </a:p>
          <a:p>
            <a:pPr algn="l" lvl="1">
              <a:lnSpc>
                <a:spcPct val="105000"/>
              </a:lnSpc>
              <a:spcBef>
                <a:spcPts val="0"/>
              </a:spcBef>
              <a:spcAft>
                <a:spcPts val="400"/>
              </a:spcAft>
              <a:buFont typeface="Arial"/>
              <a:buChar char="▪"/>
            </a:pPr>
            <a:r>
              <a:rPr sz="1350" b="0" i="0">
                <a:solidFill>
                  <a:srgbClr val="45524A"/>
                </a:solidFill>
                <a:latin typeface="Calibri"/>
              </a:rPr>
              <a:t>Need: regulatory + IP + portfolio fit in one 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24"/>
        </a:solidFill>
        <a:effectLst/>
      </p:bgPr>
    </p:bg>
    <p:spTree>
      <p:nvGrpSpPr>
        <p:cNvPr id="1" name=""/>
        <p:cNvGrpSpPr/>
        <p:nvPr/>
      </p:nvGrpSpPr>
      <p:grpSpPr/>
      <p:sp>
        <p:nvSpPr>
          <p:cNvPr id="2" name="TextBox 1"/>
          <p:cNvSpPr txBox="1"/>
          <p:nvPr/>
        </p:nvSpPr>
        <p:spPr>
          <a:xfrm>
            <a:off x="822960" y="2651760"/>
            <a:ext cx="1828800" cy="91440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6000" b="1" i="0">
                <a:solidFill>
                  <a:srgbClr val="B8860B"/>
                </a:solidFill>
                <a:latin typeface="Calibri"/>
              </a:rPr>
              <a:t>01</a:t>
            </a:r>
          </a:p>
        </p:txBody>
      </p:sp>
      <p:sp>
        <p:nvSpPr>
          <p:cNvPr id="3" name="TextBox 2"/>
          <p:cNvSpPr txBox="1"/>
          <p:nvPr/>
        </p:nvSpPr>
        <p:spPr>
          <a:xfrm>
            <a:off x="822960" y="3657600"/>
            <a:ext cx="10515600" cy="128016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3400" b="1" i="0">
                <a:solidFill>
                  <a:srgbClr val="FFFDF9"/>
                </a:solidFill>
                <a:latin typeface="Calibri"/>
              </a:rPr>
              <a:t>System &amp; Technology Architecture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System Architecture — Layered</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Presentation → Services → Data → Compute</a:t>
            </a:r>
          </a:p>
        </p:txBody>
      </p:sp>
      <p:sp>
        <p:nvSpPr>
          <p:cNvPr id="5" name="TextBox 4"/>
          <p:cNvSpPr txBox="1"/>
          <p:nvPr/>
        </p:nvSpPr>
        <p:spPr>
          <a:xfrm>
            <a:off x="548640" y="1325880"/>
            <a:ext cx="110642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PRESENTATION — Flask app (flask_app.py), Jinja/HTML templates, 3Dmol.js viewer, server-rendered pages + JSON APIs</a:t>
            </a:r>
          </a:p>
          <a:p>
            <a:pPr algn="l">
              <a:lnSpc>
                <a:spcPct val="105000"/>
              </a:lnSpc>
              <a:spcBef>
                <a:spcPts val="0"/>
              </a:spcBef>
              <a:spcAft>
                <a:spcPts val="400"/>
              </a:spcAft>
              <a:buFont typeface="Arial"/>
              <a:buChar char="▪"/>
            </a:pPr>
            <a:r>
              <a:rPr sz="1500" b="1" i="0">
                <a:solidFill>
                  <a:srgbClr val="1F2A24"/>
                </a:solidFill>
                <a:latin typeface="Calibri"/>
              </a:rPr>
              <a:t>SERVICES — ~50 Python modules: resolution, scoring engines, docking, QM, PBPK, KG, regulatory, dossier</a:t>
            </a:r>
          </a:p>
          <a:p>
            <a:pPr algn="l">
              <a:lnSpc>
                <a:spcPct val="105000"/>
              </a:lnSpc>
              <a:spcBef>
                <a:spcPts val="0"/>
              </a:spcBef>
              <a:spcAft>
                <a:spcPts val="400"/>
              </a:spcAft>
              <a:buFont typeface="Arial"/>
              <a:buChar char="▪"/>
            </a:pPr>
            <a:r>
              <a:rPr sz="1500" b="1" i="0">
                <a:solidFill>
                  <a:srgbClr val="1F2A24"/>
                </a:solidFill>
                <a:latin typeface="Calibri"/>
              </a:rPr>
              <a:t>DATA — PostgreSQL (chembl_33 + neurorepurpose/Hetionet), local KG files (DRKG, RepoDB), disk caches; ~20 live external APIs</a:t>
            </a:r>
          </a:p>
          <a:p>
            <a:pPr algn="l">
              <a:lnSpc>
                <a:spcPct val="105000"/>
              </a:lnSpc>
              <a:spcBef>
                <a:spcPts val="0"/>
              </a:spcBef>
              <a:spcAft>
                <a:spcPts val="400"/>
              </a:spcAft>
              <a:buFont typeface="Arial"/>
              <a:buChar char="▪"/>
            </a:pPr>
            <a:r>
              <a:rPr sz="1500" b="1" i="0">
                <a:solidFill>
                  <a:srgbClr val="1F2A24"/>
                </a:solidFill>
                <a:latin typeface="Calibri"/>
              </a:rPr>
              <a:t>COMPUTE — AutoDock Vina (native), GFN2-xTB quantum engine, scikit-learn models, scipy ODE PBPK, RDKit cheminformatics</a:t>
            </a:r>
          </a:p>
          <a:p>
            <a:pPr algn="l">
              <a:lnSpc>
                <a:spcPct val="105000"/>
              </a:lnSpc>
              <a:spcBef>
                <a:spcPts val="0"/>
              </a:spcBef>
              <a:spcAft>
                <a:spcPts val="400"/>
              </a:spcAft>
              <a:buFont typeface="Arial"/>
              <a:buChar char="▪"/>
            </a:pPr>
            <a:r>
              <a:rPr sz="1500" b="0" i="0">
                <a:solidFill>
                  <a:srgbClr val="1F2A24"/>
                </a:solidFill>
                <a:latin typeface="Calibri"/>
              </a:rPr>
              <a:t>CROSS-CUTTING — centralized config, shared HTTP client (retry/backoff), disk cache, fail-soft error handling everywhere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Technology Stack</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What it runs on</a:t>
            </a:r>
          </a:p>
        </p:txBody>
      </p:sp>
      <p:sp>
        <p:nvSpPr>
          <p:cNvPr id="5" name="TextBox 4"/>
          <p:cNvSpPr txBox="1"/>
          <p:nvPr/>
        </p:nvSpPr>
        <p:spPr>
          <a:xfrm>
            <a:off x="548640" y="1325880"/>
            <a:ext cx="55778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Application</a:t>
            </a:r>
          </a:p>
          <a:p>
            <a:pPr algn="l" lvl="1">
              <a:lnSpc>
                <a:spcPct val="105000"/>
              </a:lnSpc>
              <a:spcBef>
                <a:spcPts val="0"/>
              </a:spcBef>
              <a:spcAft>
                <a:spcPts val="400"/>
              </a:spcAft>
              <a:buFont typeface="Arial"/>
              <a:buChar char="▪"/>
            </a:pPr>
            <a:r>
              <a:rPr sz="1350" b="0" i="0">
                <a:solidFill>
                  <a:srgbClr val="45524A"/>
                </a:solidFill>
                <a:latin typeface="Calibri"/>
              </a:rPr>
              <a:t>Python 3.12 (.venv312), Flask, Jinja2 templates</a:t>
            </a:r>
          </a:p>
          <a:p>
            <a:pPr algn="l" lvl="1">
              <a:lnSpc>
                <a:spcPct val="105000"/>
              </a:lnSpc>
              <a:spcBef>
                <a:spcPts val="0"/>
              </a:spcBef>
              <a:spcAft>
                <a:spcPts val="400"/>
              </a:spcAft>
              <a:buFont typeface="Arial"/>
              <a:buChar char="▪"/>
            </a:pPr>
            <a:r>
              <a:rPr sz="1350" b="0" i="0">
                <a:solidFill>
                  <a:srgbClr val="45524A"/>
                </a:solidFill>
                <a:latin typeface="Calibri"/>
              </a:rPr>
              <a:t>3Dmol.js in-browser molecular viewer</a:t>
            </a:r>
          </a:p>
          <a:p>
            <a:pPr algn="l" lvl="1">
              <a:lnSpc>
                <a:spcPct val="105000"/>
              </a:lnSpc>
              <a:spcBef>
                <a:spcPts val="0"/>
              </a:spcBef>
              <a:spcAft>
                <a:spcPts val="400"/>
              </a:spcAft>
              <a:buFont typeface="Arial"/>
              <a:buChar char="▪"/>
            </a:pPr>
            <a:r>
              <a:rPr sz="1350" b="0" i="0">
                <a:solidFill>
                  <a:srgbClr val="45524A"/>
                </a:solidFill>
                <a:latin typeface="Calibri"/>
              </a:rPr>
              <a:t>psycopg2 connection pools</a:t>
            </a:r>
          </a:p>
          <a:p>
            <a:pPr algn="l">
              <a:lnSpc>
                <a:spcPct val="105000"/>
              </a:lnSpc>
              <a:spcBef>
                <a:spcPts val="0"/>
              </a:spcBef>
              <a:spcAft>
                <a:spcPts val="400"/>
              </a:spcAft>
              <a:buFont typeface="Arial"/>
              <a:buChar char="▪"/>
            </a:pPr>
            <a:r>
              <a:rPr sz="1500" b="1" i="0">
                <a:solidFill>
                  <a:srgbClr val="1F2A24"/>
                </a:solidFill>
                <a:latin typeface="Calibri"/>
              </a:rPr>
              <a:t>Data / storage</a:t>
            </a:r>
          </a:p>
          <a:p>
            <a:pPr algn="l" lvl="1">
              <a:lnSpc>
                <a:spcPct val="105000"/>
              </a:lnSpc>
              <a:spcBef>
                <a:spcPts val="0"/>
              </a:spcBef>
              <a:spcAft>
                <a:spcPts val="400"/>
              </a:spcAft>
              <a:buFont typeface="Arial"/>
              <a:buChar char="▪"/>
            </a:pPr>
            <a:r>
              <a:rPr sz="1350" b="0" i="0">
                <a:solidFill>
                  <a:srgbClr val="45524A"/>
                </a:solidFill>
                <a:latin typeface="Calibri"/>
              </a:rPr>
              <a:t>PostgreSQL :5433 — chembl_33 + neurorepurpose</a:t>
            </a:r>
          </a:p>
          <a:p>
            <a:pPr algn="l" lvl="1">
              <a:lnSpc>
                <a:spcPct val="105000"/>
              </a:lnSpc>
              <a:spcBef>
                <a:spcPts val="0"/>
              </a:spcBef>
              <a:spcAft>
                <a:spcPts val="400"/>
              </a:spcAft>
              <a:buFont typeface="Arial"/>
              <a:buChar char="▪"/>
            </a:pPr>
            <a:r>
              <a:rPr sz="1350" b="0" i="0">
                <a:solidFill>
                  <a:srgbClr val="45524A"/>
                </a:solidFill>
                <a:latin typeface="Calibri"/>
              </a:rPr>
              <a:t>Local KG files (DRKG, RepoDB, Hetionet edges)</a:t>
            </a:r>
          </a:p>
          <a:p>
            <a:pPr algn="l" lvl="1">
              <a:lnSpc>
                <a:spcPct val="105000"/>
              </a:lnSpc>
              <a:spcBef>
                <a:spcPts val="0"/>
              </a:spcBef>
              <a:spcAft>
                <a:spcPts val="400"/>
              </a:spcAft>
              <a:buFont typeface="Arial"/>
              <a:buChar char="▪"/>
            </a:pPr>
            <a:r>
              <a:rPr sz="1350" b="0" i="0">
                <a:solidFill>
                  <a:srgbClr val="45524A"/>
                </a:solidFill>
                <a:latin typeface="Calibri"/>
              </a:rPr>
              <a:t>Disk caches (services/diskcache.py) + JSON caches</a:t>
            </a:r>
          </a:p>
        </p:txBody>
      </p:sp>
      <p:sp>
        <p:nvSpPr>
          <p:cNvPr id="6" name="Rounded Rectangle 5"/>
          <p:cNvSpPr/>
          <p:nvPr/>
        </p:nvSpPr>
        <p:spPr>
          <a:xfrm>
            <a:off x="6172200" y="1371600"/>
            <a:ext cx="12700" cy="4846320"/>
          </a:xfrm>
          <a:prstGeom prst="roundRect">
            <a:avLst>
              <a:gd name="adj" fmla="val 6000"/>
            </a:avLst>
          </a:prstGeom>
          <a:solidFill>
            <a:srgbClr val="D8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55080" y="1325880"/>
            <a:ext cx="548640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Scientific compute</a:t>
            </a:r>
          </a:p>
          <a:p>
            <a:pPr algn="l" lvl="1">
              <a:lnSpc>
                <a:spcPct val="105000"/>
              </a:lnSpc>
              <a:spcBef>
                <a:spcPts val="0"/>
              </a:spcBef>
              <a:spcAft>
                <a:spcPts val="400"/>
              </a:spcAft>
              <a:buFont typeface="Arial"/>
              <a:buChar char="▪"/>
            </a:pPr>
            <a:r>
              <a:rPr sz="1350" b="0" i="0">
                <a:solidFill>
                  <a:srgbClr val="45524A"/>
                </a:solidFill>
                <a:latin typeface="Calibri"/>
              </a:rPr>
              <a:t>RDKit — cheminformatics, descriptors, conformers</a:t>
            </a:r>
          </a:p>
          <a:p>
            <a:pPr algn="l" lvl="1">
              <a:lnSpc>
                <a:spcPct val="105000"/>
              </a:lnSpc>
              <a:spcBef>
                <a:spcPts val="0"/>
              </a:spcBef>
              <a:spcAft>
                <a:spcPts val="400"/>
              </a:spcAft>
              <a:buFont typeface="Arial"/>
              <a:buChar char="▪"/>
            </a:pPr>
            <a:r>
              <a:rPr sz="1350" b="0" i="0">
                <a:solidFill>
                  <a:srgbClr val="45524A"/>
                </a:solidFill>
                <a:latin typeface="Calibri"/>
              </a:rPr>
              <a:t>scikit-learn — DWPC predictor, PoS model</a:t>
            </a:r>
          </a:p>
          <a:p>
            <a:pPr algn="l" lvl="1">
              <a:lnSpc>
                <a:spcPct val="105000"/>
              </a:lnSpc>
              <a:spcBef>
                <a:spcPts val="0"/>
              </a:spcBef>
              <a:spcAft>
                <a:spcPts val="400"/>
              </a:spcAft>
              <a:buFont typeface="Arial"/>
              <a:buChar char="▪"/>
            </a:pPr>
            <a:r>
              <a:rPr sz="1350" b="0" i="0">
                <a:solidFill>
                  <a:srgbClr val="45524A"/>
                </a:solidFill>
                <a:latin typeface="Calibri"/>
              </a:rPr>
              <a:t>scipy — LSODA ODE solver (PBPK)</a:t>
            </a:r>
          </a:p>
          <a:p>
            <a:pPr algn="l" lvl="1">
              <a:lnSpc>
                <a:spcPct val="105000"/>
              </a:lnSpc>
              <a:spcBef>
                <a:spcPts val="0"/>
              </a:spcBef>
              <a:spcAft>
                <a:spcPts val="400"/>
              </a:spcAft>
              <a:buFont typeface="Arial"/>
              <a:buChar char="▪"/>
            </a:pPr>
            <a:r>
              <a:rPr sz="1350" b="0" i="0">
                <a:solidFill>
                  <a:srgbClr val="45524A"/>
                </a:solidFill>
                <a:latin typeface="Calibri"/>
              </a:rPr>
              <a:t>AutoDock Vina 1.2.7 (native) + Meeko/pdbfixer/OpenBabel</a:t>
            </a:r>
          </a:p>
          <a:p>
            <a:pPr algn="l" lvl="1">
              <a:lnSpc>
                <a:spcPct val="105000"/>
              </a:lnSpc>
              <a:spcBef>
                <a:spcPts val="0"/>
              </a:spcBef>
              <a:spcAft>
                <a:spcPts val="400"/>
              </a:spcAft>
              <a:buFont typeface="Arial"/>
              <a:buChar char="▪"/>
            </a:pPr>
            <a:r>
              <a:rPr sz="1350" b="0" i="0">
                <a:solidFill>
                  <a:srgbClr val="45524A"/>
                </a:solidFill>
                <a:latin typeface="Calibri"/>
              </a:rPr>
              <a:t>GFN2-xTB — semi-empirical quantum chemistry</a:t>
            </a:r>
          </a:p>
          <a:p>
            <a:pPr algn="l" lvl="1">
              <a:lnSpc>
                <a:spcPct val="105000"/>
              </a:lnSpc>
              <a:spcBef>
                <a:spcPts val="0"/>
              </a:spcBef>
              <a:spcAft>
                <a:spcPts val="400"/>
              </a:spcAft>
              <a:buFont typeface="Arial"/>
              <a:buChar char="▪"/>
            </a:pPr>
            <a:r>
              <a:rPr sz="1350" b="0" i="0">
                <a:solidFill>
                  <a:srgbClr val="45524A"/>
                </a:solidFill>
                <a:latin typeface="Calibri"/>
              </a:rPr>
              <a:t>numpy / scipy.sparse — DWPC metapath matrices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Compute Environments</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Isolated by design</a:t>
            </a:r>
          </a:p>
        </p:txBody>
      </p:sp>
      <p:sp>
        <p:nvSpPr>
          <p:cNvPr id="5" name="TextBox 4"/>
          <p:cNvSpPr txBox="1"/>
          <p:nvPr/>
        </p:nvSpPr>
        <p:spPr>
          <a:xfrm>
            <a:off x="548640" y="1325880"/>
            <a:ext cx="110642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.venv312 — the Flask app + core services (RDKit, scikit-learn, scipy, psycopg2)</a:t>
            </a:r>
          </a:p>
          <a:p>
            <a:pPr algn="l">
              <a:lnSpc>
                <a:spcPct val="105000"/>
              </a:lnSpc>
              <a:spcBef>
                <a:spcPts val="0"/>
              </a:spcBef>
              <a:spcAft>
                <a:spcPts val="400"/>
              </a:spcAft>
              <a:buFont typeface="Arial"/>
              <a:buChar char="▪"/>
            </a:pPr>
            <a:r>
              <a:rPr sz="1500" b="1" i="0">
                <a:solidFill>
                  <a:srgbClr val="1F2A24"/>
                </a:solidFill>
                <a:latin typeface="Calibri"/>
              </a:rPr>
              <a:t>.qc/ micromamba root — hosts two isolated envs so heavy deps never clash with the app:</a:t>
            </a:r>
          </a:p>
          <a:p>
            <a:pPr algn="l" lvl="1">
              <a:lnSpc>
                <a:spcPct val="105000"/>
              </a:lnSpc>
              <a:spcBef>
                <a:spcPts val="0"/>
              </a:spcBef>
              <a:spcAft>
                <a:spcPts val="400"/>
              </a:spcAft>
              <a:buFont typeface="Arial"/>
              <a:buChar char="▪"/>
            </a:pPr>
            <a:r>
              <a:rPr sz="1350" b="0" i="0">
                <a:solidFill>
                  <a:srgbClr val="45524A"/>
                </a:solidFill>
                <a:latin typeface="Calibri"/>
              </a:rPr>
              <a:t>  • qc — GFN2-xTB quantum chemistry engine (services/qc_engine.py)</a:t>
            </a:r>
          </a:p>
          <a:p>
            <a:pPr algn="l" lvl="1">
              <a:lnSpc>
                <a:spcPct val="105000"/>
              </a:lnSpc>
              <a:spcBef>
                <a:spcPts val="0"/>
              </a:spcBef>
              <a:spcAft>
                <a:spcPts val="400"/>
              </a:spcAft>
              <a:buFont typeface="Arial"/>
              <a:buChar char="▪"/>
            </a:pPr>
            <a:r>
              <a:rPr sz="1350" b="0" i="0">
                <a:solidFill>
                  <a:srgbClr val="45524A"/>
                </a:solidFill>
                <a:latin typeface="Calibri"/>
              </a:rPr>
              <a:t>  • drugdisc-agent — docking chemistry: RDKit, Meeko, pdbfixer, OpenBabel, posebusters</a:t>
            </a:r>
          </a:p>
          <a:p>
            <a:pPr algn="l">
              <a:lnSpc>
                <a:spcPct val="105000"/>
              </a:lnSpc>
              <a:spcBef>
                <a:spcPts val="0"/>
              </a:spcBef>
              <a:spcAft>
                <a:spcPts val="400"/>
              </a:spcAft>
              <a:buFont typeface="Arial"/>
              <a:buChar char="▪"/>
            </a:pPr>
            <a:r>
              <a:rPr sz="1500" b="1" i="0">
                <a:solidFill>
                  <a:srgbClr val="1F2A24"/>
                </a:solidFill>
                <a:latin typeface="Calibri"/>
              </a:rPr>
              <a:t>vendor/vina_bin/vina.exe — official AutoDock Vina 1.2.7 Windows binary (the engine)</a:t>
            </a:r>
          </a:p>
          <a:p>
            <a:pPr algn="l">
              <a:lnSpc>
                <a:spcPct val="105000"/>
              </a:lnSpc>
              <a:spcBef>
                <a:spcPts val="0"/>
              </a:spcBef>
              <a:spcAft>
                <a:spcPts val="400"/>
              </a:spcAft>
              <a:buFont typeface="Arial"/>
              <a:buChar char="▪"/>
            </a:pPr>
            <a:r>
              <a:rPr sz="1500" b="0" i="0">
                <a:solidFill>
                  <a:srgbClr val="1F2A24"/>
                </a:solidFill>
                <a:latin typeface="Calibri"/>
              </a:rPr>
              <a:t>vendor/AtomisticSkills — vendored open drug-discovery skills (MIT lab) used as the reference recipes</a:t>
            </a:r>
          </a:p>
          <a:p>
            <a:pPr algn="l">
              <a:lnSpc>
                <a:spcPct val="105000"/>
              </a:lnSpc>
              <a:spcBef>
                <a:spcPts val="0"/>
              </a:spcBef>
              <a:spcAft>
                <a:spcPts val="400"/>
              </a:spcAft>
              <a:buFont typeface="Arial"/>
              <a:buChar char="▪"/>
            </a:pPr>
            <a:r>
              <a:rPr sz="1500" b="0" i="0">
                <a:solidFill>
                  <a:srgbClr val="1F2A24"/>
                </a:solidFill>
                <a:latin typeface="Calibri"/>
              </a:rPr>
              <a:t>App shells out to env pythons via subprocess (worker scripts) → clean dependency isolation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Data Sources — Curated &amp; Local</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The trusted foundation</a:t>
            </a:r>
          </a:p>
        </p:txBody>
      </p:sp>
      <p:sp>
        <p:nvSpPr>
          <p:cNvPr id="5" name="TextBox 4"/>
          <p:cNvSpPr txBox="1"/>
          <p:nvPr/>
        </p:nvSpPr>
        <p:spPr>
          <a:xfrm>
            <a:off x="548640" y="1325880"/>
            <a:ext cx="55778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ChEMBL 33 (PostgreSQL)</a:t>
            </a:r>
          </a:p>
          <a:p>
            <a:pPr algn="l" lvl="1">
              <a:lnSpc>
                <a:spcPct val="105000"/>
              </a:lnSpc>
              <a:spcBef>
                <a:spcPts val="0"/>
              </a:spcBef>
              <a:spcAft>
                <a:spcPts val="400"/>
              </a:spcAft>
              <a:buFont typeface="Arial"/>
              <a:buChar char="▪"/>
            </a:pPr>
            <a:r>
              <a:rPr sz="1350" b="0" i="0">
                <a:solidFill>
                  <a:srgbClr val="45524A"/>
                </a:solidFill>
                <a:latin typeface="Calibri"/>
              </a:rPr>
              <a:t>Compounds, targets, mechanisms, indications, activities (pChEMBL)</a:t>
            </a:r>
          </a:p>
          <a:p>
            <a:pPr algn="l" lvl="1">
              <a:lnSpc>
                <a:spcPct val="105000"/>
              </a:lnSpc>
              <a:spcBef>
                <a:spcPts val="0"/>
              </a:spcBef>
              <a:spcAft>
                <a:spcPts val="400"/>
              </a:spcAft>
              <a:buFont typeface="Arial"/>
              <a:buChar char="▪"/>
            </a:pPr>
            <a:r>
              <a:rPr sz="1350" b="0" i="0">
                <a:solidFill>
                  <a:srgbClr val="45524A"/>
                </a:solidFill>
                <a:latin typeface="Calibri"/>
              </a:rPr>
              <a:t>Restore-verified, integrity-checked</a:t>
            </a:r>
          </a:p>
          <a:p>
            <a:pPr algn="l">
              <a:lnSpc>
                <a:spcPct val="105000"/>
              </a:lnSpc>
              <a:spcBef>
                <a:spcPts val="0"/>
              </a:spcBef>
              <a:spcAft>
                <a:spcPts val="400"/>
              </a:spcAft>
              <a:buFont typeface="Arial"/>
              <a:buChar char="▪"/>
            </a:pPr>
            <a:r>
              <a:rPr sz="1500" b="1" i="0">
                <a:solidFill>
                  <a:srgbClr val="1F2A24"/>
                </a:solidFill>
                <a:latin typeface="Calibri"/>
              </a:rPr>
              <a:t>Hetionet v1.0 (in neurorepurpose DB)</a:t>
            </a:r>
          </a:p>
          <a:p>
            <a:pPr algn="l" lvl="1">
              <a:lnSpc>
                <a:spcPct val="105000"/>
              </a:lnSpc>
              <a:spcBef>
                <a:spcPts val="0"/>
              </a:spcBef>
              <a:spcAft>
                <a:spcPts val="400"/>
              </a:spcAft>
              <a:buFont typeface="Arial"/>
              <a:buChar char="▪"/>
            </a:pPr>
            <a:r>
              <a:rPr sz="1350" b="0" i="0">
                <a:solidFill>
                  <a:srgbClr val="45524A"/>
                </a:solidFill>
                <a:latin typeface="Calibri"/>
              </a:rPr>
              <a:t>~47k nodes, typed edges; 755 curated Compound-treats-Disease</a:t>
            </a:r>
          </a:p>
          <a:p>
            <a:pPr algn="l" lvl="1">
              <a:lnSpc>
                <a:spcPct val="105000"/>
              </a:lnSpc>
              <a:spcBef>
                <a:spcPts val="0"/>
              </a:spcBef>
              <a:spcAft>
                <a:spcPts val="400"/>
              </a:spcAft>
              <a:buFont typeface="Arial"/>
              <a:buChar char="▪"/>
            </a:pPr>
            <a:r>
              <a:rPr sz="1350" b="0" i="0">
                <a:solidFill>
                  <a:srgbClr val="45524A"/>
                </a:solidFill>
                <a:latin typeface="Calibri"/>
              </a:rPr>
              <a:t>Powers the DWPC plausibility predictor</a:t>
            </a:r>
          </a:p>
        </p:txBody>
      </p:sp>
      <p:sp>
        <p:nvSpPr>
          <p:cNvPr id="6" name="Rounded Rectangle 5"/>
          <p:cNvSpPr/>
          <p:nvPr/>
        </p:nvSpPr>
        <p:spPr>
          <a:xfrm>
            <a:off x="6172200" y="1371600"/>
            <a:ext cx="12700" cy="4846320"/>
          </a:xfrm>
          <a:prstGeom prst="roundRect">
            <a:avLst>
              <a:gd name="adj" fmla="val 6000"/>
            </a:avLst>
          </a:prstGeom>
          <a:solidFill>
            <a:srgbClr val="D8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55080" y="1325880"/>
            <a:ext cx="548640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DRKG — Drug Repurposing KG</a:t>
            </a:r>
          </a:p>
          <a:p>
            <a:pPr algn="l" lvl="1">
              <a:lnSpc>
                <a:spcPct val="105000"/>
              </a:lnSpc>
              <a:spcBef>
                <a:spcPts val="0"/>
              </a:spcBef>
              <a:spcAft>
                <a:spcPts val="400"/>
              </a:spcAft>
              <a:buFont typeface="Arial"/>
              <a:buChar char="▪"/>
            </a:pPr>
            <a:r>
              <a:rPr sz="1350" b="0" i="0">
                <a:solidFill>
                  <a:srgbClr val="45524A"/>
                </a:solidFill>
                <a:latin typeface="Calibri"/>
              </a:rPr>
              <a:t>Neurological subset; drug↔gene↔disease triples</a:t>
            </a:r>
          </a:p>
          <a:p>
            <a:pPr algn="l">
              <a:lnSpc>
                <a:spcPct val="105000"/>
              </a:lnSpc>
              <a:spcBef>
                <a:spcPts val="0"/>
              </a:spcBef>
              <a:spcAft>
                <a:spcPts val="400"/>
              </a:spcAft>
              <a:buFont typeface="Arial"/>
              <a:buChar char="▪"/>
            </a:pPr>
            <a:r>
              <a:rPr sz="1500" b="1" i="0">
                <a:solidFill>
                  <a:srgbClr val="1F2A24"/>
                </a:solidFill>
                <a:latin typeface="Calibri"/>
              </a:rPr>
              <a:t>RepoDB (data/external/repodb)</a:t>
            </a:r>
          </a:p>
          <a:p>
            <a:pPr algn="l" lvl="1">
              <a:lnSpc>
                <a:spcPct val="105000"/>
              </a:lnSpc>
              <a:spcBef>
                <a:spcPts val="0"/>
              </a:spcBef>
              <a:spcAft>
                <a:spcPts val="400"/>
              </a:spcAft>
              <a:buFont typeface="Arial"/>
              <a:buChar char="▪"/>
            </a:pPr>
            <a:r>
              <a:rPr sz="1350" b="0" i="0">
                <a:solidFill>
                  <a:srgbClr val="45524A"/>
                </a:solidFill>
                <a:latin typeface="Calibri"/>
              </a:rPr>
              <a:t>13,558 labelled pairs: 8,931 Approved / 4,627 Failed</a:t>
            </a:r>
          </a:p>
          <a:p>
            <a:pPr algn="l" lvl="1">
              <a:lnSpc>
                <a:spcPct val="105000"/>
              </a:lnSpc>
              <a:spcBef>
                <a:spcPts val="0"/>
              </a:spcBef>
              <a:spcAft>
                <a:spcPts val="400"/>
              </a:spcAft>
              <a:buFont typeface="Arial"/>
              <a:buChar char="▪"/>
            </a:pPr>
            <a:r>
              <a:rPr sz="1350" b="0" i="0">
                <a:solidFill>
                  <a:srgbClr val="45524A"/>
                </a:solidFill>
                <a:latin typeface="Calibri"/>
              </a:rPr>
              <a:t>The outcome gold standard for validation</a:t>
            </a:r>
          </a:p>
          <a:p>
            <a:pPr algn="l">
              <a:lnSpc>
                <a:spcPct val="105000"/>
              </a:lnSpc>
              <a:spcBef>
                <a:spcPts val="0"/>
              </a:spcBef>
              <a:spcAft>
                <a:spcPts val="400"/>
              </a:spcAft>
              <a:buFont typeface="Arial"/>
              <a:buChar char="▪"/>
            </a:pPr>
            <a:r>
              <a:rPr sz="1500" b="1" i="0">
                <a:solidFill>
                  <a:srgbClr val="1F2A24"/>
                </a:solidFill>
                <a:latin typeface="Calibri"/>
              </a:rPr>
              <a:t>MeSH + FDA Orange Book</a:t>
            </a:r>
          </a:p>
          <a:p>
            <a:pPr algn="l" lvl="1">
              <a:lnSpc>
                <a:spcPct val="105000"/>
              </a:lnSpc>
              <a:spcBef>
                <a:spcPts val="0"/>
              </a:spcBef>
              <a:spcAft>
                <a:spcPts val="400"/>
              </a:spcAft>
              <a:buFont typeface="Arial"/>
              <a:buChar char="▪"/>
            </a:pPr>
            <a:r>
              <a:rPr sz="1350" b="0" i="0">
                <a:solidFill>
                  <a:srgbClr val="45524A"/>
                </a:solidFill>
                <a:latin typeface="Calibri"/>
              </a:rPr>
              <a:t>Disease vocabulary; patent &amp; exclusivity status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Data Sources — Live External APIs</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~20 authoritative endpoints, cached &amp; fail-soft</a:t>
            </a:r>
          </a:p>
        </p:txBody>
      </p:sp>
      <p:sp>
        <p:nvSpPr>
          <p:cNvPr id="5" name="TextBox 4"/>
          <p:cNvSpPr txBox="1"/>
          <p:nvPr/>
        </p:nvSpPr>
        <p:spPr>
          <a:xfrm>
            <a:off x="548640" y="1325880"/>
            <a:ext cx="55778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Biology &amp; mechanism</a:t>
            </a:r>
          </a:p>
          <a:p>
            <a:pPr algn="l" lvl="1">
              <a:lnSpc>
                <a:spcPct val="105000"/>
              </a:lnSpc>
              <a:spcBef>
                <a:spcPts val="0"/>
              </a:spcBef>
              <a:spcAft>
                <a:spcPts val="400"/>
              </a:spcAft>
              <a:buFont typeface="Arial"/>
              <a:buChar char="▪"/>
            </a:pPr>
            <a:r>
              <a:rPr sz="1350" b="0" i="0">
                <a:solidFill>
                  <a:srgbClr val="45524A"/>
                </a:solidFill>
                <a:latin typeface="Calibri"/>
              </a:rPr>
              <a:t>Open Targets — genetic target↔disease associations, pathways</a:t>
            </a:r>
          </a:p>
          <a:p>
            <a:pPr algn="l" lvl="1">
              <a:lnSpc>
                <a:spcPct val="105000"/>
              </a:lnSpc>
              <a:spcBef>
                <a:spcPts val="0"/>
              </a:spcBef>
              <a:spcAft>
                <a:spcPts val="400"/>
              </a:spcAft>
              <a:buFont typeface="Arial"/>
              <a:buChar char="▪"/>
            </a:pPr>
            <a:r>
              <a:rPr sz="1350" b="0" i="0">
                <a:solidFill>
                  <a:srgbClr val="45524A"/>
                </a:solidFill>
                <a:latin typeface="Calibri"/>
              </a:rPr>
              <a:t>STRING — protein-protein interaction network</a:t>
            </a:r>
          </a:p>
          <a:p>
            <a:pPr algn="l" lvl="1">
              <a:lnSpc>
                <a:spcPct val="105000"/>
              </a:lnSpc>
              <a:spcBef>
                <a:spcPts val="0"/>
              </a:spcBef>
              <a:spcAft>
                <a:spcPts val="400"/>
              </a:spcAft>
              <a:buFont typeface="Arial"/>
              <a:buChar char="▪"/>
            </a:pPr>
            <a:r>
              <a:rPr sz="1350" b="0" i="0">
                <a:solidFill>
                  <a:srgbClr val="45524A"/>
                </a:solidFill>
                <a:latin typeface="Calibri"/>
              </a:rPr>
              <a:t>Reactome — pathway membership</a:t>
            </a:r>
          </a:p>
          <a:p>
            <a:pPr algn="l" lvl="1">
              <a:lnSpc>
                <a:spcPct val="105000"/>
              </a:lnSpc>
              <a:spcBef>
                <a:spcPts val="0"/>
              </a:spcBef>
              <a:spcAft>
                <a:spcPts val="400"/>
              </a:spcAft>
              <a:buFont typeface="Arial"/>
              <a:buChar char="▪"/>
            </a:pPr>
            <a:r>
              <a:rPr sz="1350" b="0" i="0">
                <a:solidFill>
                  <a:srgbClr val="45524A"/>
                </a:solidFill>
                <a:latin typeface="Calibri"/>
              </a:rPr>
              <a:t>UniProt — gene→protein identity resolution</a:t>
            </a:r>
          </a:p>
          <a:p>
            <a:pPr algn="l">
              <a:lnSpc>
                <a:spcPct val="105000"/>
              </a:lnSpc>
              <a:spcBef>
                <a:spcPts val="0"/>
              </a:spcBef>
              <a:spcAft>
                <a:spcPts val="400"/>
              </a:spcAft>
              <a:buFont typeface="Arial"/>
              <a:buChar char="▪"/>
            </a:pPr>
            <a:r>
              <a:rPr sz="1500" b="1" i="0">
                <a:solidFill>
                  <a:srgbClr val="1F2A24"/>
                </a:solidFill>
                <a:latin typeface="Calibri"/>
              </a:rPr>
              <a:t>Clinical &amp; safety</a:t>
            </a:r>
          </a:p>
          <a:p>
            <a:pPr algn="l" lvl="1">
              <a:lnSpc>
                <a:spcPct val="105000"/>
              </a:lnSpc>
              <a:spcBef>
                <a:spcPts val="0"/>
              </a:spcBef>
              <a:spcAft>
                <a:spcPts val="400"/>
              </a:spcAft>
              <a:buFont typeface="Arial"/>
              <a:buChar char="▪"/>
            </a:pPr>
            <a:r>
              <a:rPr sz="1350" b="0" i="0">
                <a:solidFill>
                  <a:srgbClr val="45524A"/>
                </a:solidFill>
                <a:latin typeface="Calibri"/>
              </a:rPr>
              <a:t>ClinicalTrials.gov, WHO ICTRP, CTRI (India) — trials</a:t>
            </a:r>
          </a:p>
          <a:p>
            <a:pPr algn="l" lvl="1">
              <a:lnSpc>
                <a:spcPct val="105000"/>
              </a:lnSpc>
              <a:spcBef>
                <a:spcPts val="0"/>
              </a:spcBef>
              <a:spcAft>
                <a:spcPts val="400"/>
              </a:spcAft>
              <a:buFont typeface="Arial"/>
              <a:buChar char="▪"/>
            </a:pPr>
            <a:r>
              <a:rPr sz="1350" b="0" i="0">
                <a:solidFill>
                  <a:srgbClr val="45524A"/>
                </a:solidFill>
                <a:latin typeface="Calibri"/>
              </a:rPr>
              <a:t>PubMed / NCBI e-utils — literature co-mention</a:t>
            </a:r>
          </a:p>
          <a:p>
            <a:pPr algn="l" lvl="1">
              <a:lnSpc>
                <a:spcPct val="105000"/>
              </a:lnSpc>
              <a:spcBef>
                <a:spcPts val="0"/>
              </a:spcBef>
              <a:spcAft>
                <a:spcPts val="400"/>
              </a:spcAft>
              <a:buFont typeface="Arial"/>
              <a:buChar char="▪"/>
            </a:pPr>
            <a:r>
              <a:rPr sz="1350" b="0" i="0">
                <a:solidFill>
                  <a:srgbClr val="45524A"/>
                </a:solidFill>
                <a:latin typeface="Calibri"/>
              </a:rPr>
              <a:t>openFDA — FAERS adverse events + drug labels</a:t>
            </a:r>
          </a:p>
        </p:txBody>
      </p:sp>
      <p:sp>
        <p:nvSpPr>
          <p:cNvPr id="6" name="Rounded Rectangle 5"/>
          <p:cNvSpPr/>
          <p:nvPr/>
        </p:nvSpPr>
        <p:spPr>
          <a:xfrm>
            <a:off x="6172200" y="1371600"/>
            <a:ext cx="12700" cy="4846320"/>
          </a:xfrm>
          <a:prstGeom prst="roundRect">
            <a:avLst>
              <a:gd name="adj" fmla="val 6000"/>
            </a:avLst>
          </a:prstGeom>
          <a:solidFill>
            <a:srgbClr val="D8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55080" y="1325880"/>
            <a:ext cx="548640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Structure</a:t>
            </a:r>
          </a:p>
          <a:p>
            <a:pPr algn="l" lvl="1">
              <a:lnSpc>
                <a:spcPct val="105000"/>
              </a:lnSpc>
              <a:spcBef>
                <a:spcPts val="0"/>
              </a:spcBef>
              <a:spcAft>
                <a:spcPts val="400"/>
              </a:spcAft>
              <a:buFont typeface="Arial"/>
              <a:buChar char="▪"/>
            </a:pPr>
            <a:r>
              <a:rPr sz="1350" b="0" i="0">
                <a:solidFill>
                  <a:srgbClr val="45524A"/>
                </a:solidFill>
                <a:latin typeface="Calibri"/>
              </a:rPr>
              <a:t>RCSB PDB — experimental structures</a:t>
            </a:r>
          </a:p>
          <a:p>
            <a:pPr algn="l" lvl="1">
              <a:lnSpc>
                <a:spcPct val="105000"/>
              </a:lnSpc>
              <a:spcBef>
                <a:spcPts val="0"/>
              </a:spcBef>
              <a:spcAft>
                <a:spcPts val="400"/>
              </a:spcAft>
              <a:buFont typeface="Arial"/>
              <a:buChar char="▪"/>
            </a:pPr>
            <a:r>
              <a:rPr sz="1350" b="0" i="0">
                <a:solidFill>
                  <a:srgbClr val="45524A"/>
                </a:solidFill>
                <a:latin typeface="Calibri"/>
              </a:rPr>
              <a:t>AlphaFold (EBI) — predicted models (pLDDT-filtered)</a:t>
            </a:r>
          </a:p>
          <a:p>
            <a:pPr algn="l">
              <a:lnSpc>
                <a:spcPct val="105000"/>
              </a:lnSpc>
              <a:spcBef>
                <a:spcPts val="0"/>
              </a:spcBef>
              <a:spcAft>
                <a:spcPts val="400"/>
              </a:spcAft>
              <a:buFont typeface="Arial"/>
              <a:buChar char="▪"/>
            </a:pPr>
            <a:r>
              <a:rPr sz="1500" b="1" i="0">
                <a:solidFill>
                  <a:srgbClr val="1F2A24"/>
                </a:solidFill>
                <a:latin typeface="Calibri"/>
              </a:rPr>
              <a:t>Regulatory &amp; IP</a:t>
            </a:r>
          </a:p>
          <a:p>
            <a:pPr algn="l" lvl="1">
              <a:lnSpc>
                <a:spcPct val="105000"/>
              </a:lnSpc>
              <a:spcBef>
                <a:spcPts val="0"/>
              </a:spcBef>
              <a:spcAft>
                <a:spcPts val="400"/>
              </a:spcAft>
              <a:buFont typeface="Arial"/>
              <a:buChar char="▪"/>
            </a:pPr>
            <a:r>
              <a:rPr sz="1350" b="0" i="0">
                <a:solidFill>
                  <a:srgbClr val="45524A"/>
                </a:solidFill>
                <a:latin typeface="Calibri"/>
              </a:rPr>
              <a:t>FDA (Orange Book, labels, approvals)</a:t>
            </a:r>
          </a:p>
          <a:p>
            <a:pPr algn="l" lvl="1">
              <a:lnSpc>
                <a:spcPct val="105000"/>
              </a:lnSpc>
              <a:spcBef>
                <a:spcPts val="0"/>
              </a:spcBef>
              <a:spcAft>
                <a:spcPts val="400"/>
              </a:spcAft>
              <a:buFont typeface="Arial"/>
              <a:buChar char="▪"/>
            </a:pPr>
            <a:r>
              <a:rPr sz="1350" b="0" i="0">
                <a:solidFill>
                  <a:srgbClr val="45524A"/>
                </a:solidFill>
                <a:latin typeface="Calibri"/>
              </a:rPr>
              <a:t>EMA, MHRA (UK), CTRI/CDSCO (India)</a:t>
            </a:r>
          </a:p>
          <a:p>
            <a:pPr algn="l" lvl="1">
              <a:lnSpc>
                <a:spcPct val="105000"/>
              </a:lnSpc>
              <a:spcBef>
                <a:spcPts val="0"/>
              </a:spcBef>
              <a:spcAft>
                <a:spcPts val="400"/>
              </a:spcAft>
              <a:buFont typeface="Arial"/>
              <a:buChar char="▪"/>
            </a:pPr>
            <a:r>
              <a:rPr sz="1350" b="0" i="0">
                <a:solidFill>
                  <a:srgbClr val="45524A"/>
                </a:solidFill>
                <a:latin typeface="Calibri"/>
              </a:rPr>
              <a:t>Google Patents — patent landscape</a:t>
            </a:r>
          </a:p>
          <a:p>
            <a:pPr algn="l" lvl="1">
              <a:lnSpc>
                <a:spcPct val="105000"/>
              </a:lnSpc>
              <a:spcBef>
                <a:spcPts val="0"/>
              </a:spcBef>
              <a:spcAft>
                <a:spcPts val="400"/>
              </a:spcAft>
              <a:buFont typeface="Arial"/>
              <a:buChar char="▪"/>
            </a:pPr>
            <a:r>
              <a:rPr sz="1350" b="0" i="0">
                <a:solidFill>
                  <a:srgbClr val="45524A"/>
                </a:solidFill>
                <a:latin typeface="Calibri"/>
              </a:rPr>
              <a:t>All via services/http_client.py + disk cache (fail-soft)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End-to-End Data Pipeline</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From a query to a ranked, dossier-backed hypothesis</a:t>
            </a:r>
          </a:p>
        </p:txBody>
      </p:sp>
      <p:sp>
        <p:nvSpPr>
          <p:cNvPr id="5" name="TextBox 4"/>
          <p:cNvSpPr txBox="1"/>
          <p:nvPr/>
        </p:nvSpPr>
        <p:spPr>
          <a:xfrm>
            <a:off x="548640" y="1325880"/>
            <a:ext cx="110642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1. RESOLVE — disease → ontology (MeSH/EFO/MONDO) + genes/pathways; drug → ChEMBL id + targets + SMILES</a:t>
            </a:r>
          </a:p>
          <a:p>
            <a:pPr algn="l">
              <a:lnSpc>
                <a:spcPct val="105000"/>
              </a:lnSpc>
              <a:spcBef>
                <a:spcPts val="0"/>
              </a:spcBef>
              <a:spcAft>
                <a:spcPts val="400"/>
              </a:spcAft>
              <a:buFont typeface="Arial"/>
              <a:buChar char="▪"/>
            </a:pPr>
            <a:r>
              <a:rPr sz="1500" b="1" i="0">
                <a:solidFill>
                  <a:srgbClr val="1F2A24"/>
                </a:solidFill>
                <a:latin typeface="Calibri"/>
              </a:rPr>
              <a:t>2. GENERATE candidates — DB indications, ChEMBL, Open Targets associations, Hetionet novelty, pathway/target entry</a:t>
            </a:r>
          </a:p>
          <a:p>
            <a:pPr algn="l">
              <a:lnSpc>
                <a:spcPct val="105000"/>
              </a:lnSpc>
              <a:spcBef>
                <a:spcPts val="0"/>
              </a:spcBef>
              <a:spcAft>
                <a:spcPts val="400"/>
              </a:spcAft>
              <a:buFont typeface="Arial"/>
              <a:buChar char="▪"/>
            </a:pPr>
            <a:r>
              <a:rPr sz="1500" b="1" i="0">
                <a:solidFill>
                  <a:srgbClr val="1F2A24"/>
                </a:solidFill>
                <a:latin typeface="Calibri"/>
              </a:rPr>
              <a:t>3. GATHER evidence — target overlap, pathways, PPI, trials, literature, FAERS safety, directional KG triples</a:t>
            </a:r>
          </a:p>
          <a:p>
            <a:pPr algn="l">
              <a:lnSpc>
                <a:spcPct val="105000"/>
              </a:lnSpc>
              <a:spcBef>
                <a:spcPts val="0"/>
              </a:spcBef>
              <a:spcAft>
                <a:spcPts val="400"/>
              </a:spcAft>
              <a:buFont typeface="Arial"/>
              <a:buChar char="▪"/>
            </a:pPr>
            <a:r>
              <a:rPr sz="1500" b="1" i="0">
                <a:solidFill>
                  <a:srgbClr val="1F2A24"/>
                </a:solidFill>
                <a:latin typeface="Calibri"/>
              </a:rPr>
              <a:t>4. SCORE — canonical 6-dimension composite (renormalized) × guardrail multipliers (collapsed)</a:t>
            </a:r>
          </a:p>
          <a:p>
            <a:pPr algn="l">
              <a:lnSpc>
                <a:spcPct val="105000"/>
              </a:lnSpc>
              <a:spcBef>
                <a:spcPts val="0"/>
              </a:spcBef>
              <a:spcAft>
                <a:spcPts val="400"/>
              </a:spcAft>
              <a:buFont typeface="Arial"/>
              <a:buChar char="▪"/>
            </a:pPr>
            <a:r>
              <a:rPr sz="1500" b="1" i="0">
                <a:solidFill>
                  <a:srgbClr val="1F2A24"/>
                </a:solidFill>
                <a:latin typeface="Calibri"/>
              </a:rPr>
              <a:t>5. CALIBRATE — enrichment vs random-pair null + validated DWPC plausibility P(treats) where covered</a:t>
            </a:r>
          </a:p>
          <a:p>
            <a:pPr algn="l">
              <a:lnSpc>
                <a:spcPct val="105000"/>
              </a:lnSpc>
              <a:spcBef>
                <a:spcPts val="0"/>
              </a:spcBef>
              <a:spcAft>
                <a:spcPts val="400"/>
              </a:spcAft>
              <a:buFont typeface="Arial"/>
              <a:buChar char="▪"/>
            </a:pPr>
            <a:r>
              <a:rPr sz="1500" b="1" i="0">
                <a:solidFill>
                  <a:srgbClr val="1F2A24"/>
                </a:solidFill>
                <a:latin typeface="Calibri"/>
              </a:rPr>
              <a:t>6. ENRICH — PoS, regulatory verdict, developability, docking, PBPK, evidence dossier, portfolio fit</a:t>
            </a:r>
          </a:p>
          <a:p>
            <a:pPr algn="l">
              <a:lnSpc>
                <a:spcPct val="105000"/>
              </a:lnSpc>
              <a:spcBef>
                <a:spcPts val="0"/>
              </a:spcBef>
              <a:spcAft>
                <a:spcPts val="400"/>
              </a:spcAft>
              <a:buFont typeface="Arial"/>
              <a:buChar char="▪"/>
            </a:pPr>
            <a:r>
              <a:rPr sz="1500" b="1" i="0">
                <a:solidFill>
                  <a:srgbClr val="1F2A24"/>
                </a:solidFill>
                <a:latin typeface="Calibri"/>
              </a:rPr>
              <a:t>7. PRESENT — ranked cards, confidence tiers, honest labels, 505(b)(2) dossier, knowledge graph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Platform Surfaces (Pages)</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Nine working views onto the engine</a:t>
            </a:r>
          </a:p>
        </p:txBody>
      </p:sp>
      <p:sp>
        <p:nvSpPr>
          <p:cNvPr id="5" name="TextBox 4"/>
          <p:cNvSpPr txBox="1"/>
          <p:nvPr/>
        </p:nvSpPr>
        <p:spPr>
          <a:xfrm>
            <a:off x="548640" y="1325880"/>
            <a:ext cx="55778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Discovery &amp; repurposing</a:t>
            </a:r>
          </a:p>
          <a:p>
            <a:pPr algn="l" lvl="1">
              <a:lnSpc>
                <a:spcPct val="105000"/>
              </a:lnSpc>
              <a:spcBef>
                <a:spcPts val="0"/>
              </a:spcBef>
              <a:spcAft>
                <a:spcPts val="400"/>
              </a:spcAft>
              <a:buFont typeface="Arial"/>
              <a:buChar char="▪"/>
            </a:pPr>
            <a:r>
              <a:rPr sz="1350" b="0" i="0">
                <a:solidFill>
                  <a:srgbClr val="45524A"/>
                </a:solidFill>
                <a:latin typeface="Calibri"/>
              </a:rPr>
              <a:t>Compound Discovery (/discover) — disease → drugs</a:t>
            </a:r>
          </a:p>
          <a:p>
            <a:pPr algn="l" lvl="1">
              <a:lnSpc>
                <a:spcPct val="105000"/>
              </a:lnSpc>
              <a:spcBef>
                <a:spcPts val="0"/>
              </a:spcBef>
              <a:spcAft>
                <a:spcPts val="400"/>
              </a:spcAft>
              <a:buFont typeface="Arial"/>
              <a:buChar char="▪"/>
            </a:pPr>
            <a:r>
              <a:rPr sz="1350" b="0" i="0">
                <a:solidFill>
                  <a:srgbClr val="45524A"/>
                </a:solidFill>
                <a:latin typeface="Calibri"/>
              </a:rPr>
              <a:t>Repurpose Molecule (/repurpose) — drug → indications, 505(b)(2)</a:t>
            </a:r>
          </a:p>
          <a:p>
            <a:pPr algn="l" lvl="1">
              <a:lnSpc>
                <a:spcPct val="105000"/>
              </a:lnSpc>
              <a:spcBef>
                <a:spcPts val="0"/>
              </a:spcBef>
              <a:spcAft>
                <a:spcPts val="400"/>
              </a:spcAft>
              <a:buFont typeface="Arial"/>
              <a:buChar char="▪"/>
            </a:pPr>
            <a:r>
              <a:rPr sz="1350" b="0" i="0">
                <a:solidFill>
                  <a:srgbClr val="45524A"/>
                </a:solidFill>
                <a:latin typeface="Calibri"/>
              </a:rPr>
              <a:t>Pathway Screen (/pathways) — pathway → drug↔indication</a:t>
            </a:r>
          </a:p>
          <a:p>
            <a:pPr algn="l" lvl="1">
              <a:lnSpc>
                <a:spcPct val="105000"/>
              </a:lnSpc>
              <a:spcBef>
                <a:spcPts val="0"/>
              </a:spcBef>
              <a:spcAft>
                <a:spcPts val="400"/>
              </a:spcAft>
              <a:buFont typeface="Arial"/>
              <a:buChar char="▪"/>
            </a:pPr>
            <a:r>
              <a:rPr sz="1350" b="0" i="0">
                <a:solidFill>
                  <a:srgbClr val="45524A"/>
                </a:solidFill>
                <a:latin typeface="Calibri"/>
              </a:rPr>
              <a:t>Novel Targets (/novel-targets) — inferred targets → drugs</a:t>
            </a:r>
          </a:p>
          <a:p>
            <a:pPr algn="l" lvl="1">
              <a:lnSpc>
                <a:spcPct val="105000"/>
              </a:lnSpc>
              <a:spcBef>
                <a:spcPts val="0"/>
              </a:spcBef>
              <a:spcAft>
                <a:spcPts val="400"/>
              </a:spcAft>
              <a:buFont typeface="Arial"/>
              <a:buChar char="▪"/>
            </a:pPr>
            <a:r>
              <a:rPr sz="1350" b="0" i="0">
                <a:solidFill>
                  <a:srgbClr val="45524A"/>
                </a:solidFill>
                <a:latin typeface="Calibri"/>
              </a:rPr>
              <a:t>Analysis / Dossier (/analysis) — per-candidate deep dive</a:t>
            </a:r>
          </a:p>
        </p:txBody>
      </p:sp>
      <p:sp>
        <p:nvSpPr>
          <p:cNvPr id="6" name="Rounded Rectangle 5"/>
          <p:cNvSpPr/>
          <p:nvPr/>
        </p:nvSpPr>
        <p:spPr>
          <a:xfrm>
            <a:off x="6172200" y="1371600"/>
            <a:ext cx="12700" cy="4846320"/>
          </a:xfrm>
          <a:prstGeom prst="roundRect">
            <a:avLst>
              <a:gd name="adj" fmla="val 6000"/>
            </a:avLst>
          </a:prstGeom>
          <a:solidFill>
            <a:srgbClr val="D8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55080" y="1325880"/>
            <a:ext cx="548640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Evidence &amp; context</a:t>
            </a:r>
          </a:p>
          <a:p>
            <a:pPr algn="l" lvl="1">
              <a:lnSpc>
                <a:spcPct val="105000"/>
              </a:lnSpc>
              <a:spcBef>
                <a:spcPts val="0"/>
              </a:spcBef>
              <a:spcAft>
                <a:spcPts val="400"/>
              </a:spcAft>
              <a:buFont typeface="Arial"/>
              <a:buChar char="▪"/>
            </a:pPr>
            <a:r>
              <a:rPr sz="1350" b="0" i="0">
                <a:solidFill>
                  <a:srgbClr val="45524A"/>
                </a:solidFill>
                <a:latin typeface="Calibri"/>
              </a:rPr>
              <a:t>Knowledge Graph (/graph) — evidence-chain visualisation</a:t>
            </a:r>
          </a:p>
          <a:p>
            <a:pPr algn="l" lvl="1">
              <a:lnSpc>
                <a:spcPct val="105000"/>
              </a:lnSpc>
              <a:spcBef>
                <a:spcPts val="0"/>
              </a:spcBef>
              <a:spcAft>
                <a:spcPts val="400"/>
              </a:spcAft>
              <a:buFont typeface="Arial"/>
              <a:buChar char="▪"/>
            </a:pPr>
            <a:r>
              <a:rPr sz="1350" b="0" i="0">
                <a:solidFill>
                  <a:srgbClr val="45524A"/>
                </a:solidFill>
                <a:latin typeface="Calibri"/>
              </a:rPr>
              <a:t>Database (/database) — browse the validated data</a:t>
            </a:r>
          </a:p>
          <a:p>
            <a:pPr algn="l" lvl="1">
              <a:lnSpc>
                <a:spcPct val="105000"/>
              </a:lnSpc>
              <a:spcBef>
                <a:spcPts val="0"/>
              </a:spcBef>
              <a:spcAft>
                <a:spcPts val="400"/>
              </a:spcAft>
              <a:buFont typeface="Arial"/>
              <a:buChar char="▪"/>
            </a:pPr>
            <a:r>
              <a:rPr sz="1350" b="0" i="0">
                <a:solidFill>
                  <a:srgbClr val="45524A"/>
                </a:solidFill>
                <a:latin typeface="Calibri"/>
              </a:rPr>
              <a:t>Validation (/validation) — data-quality narrative</a:t>
            </a:r>
          </a:p>
          <a:p>
            <a:pPr algn="l" lvl="1">
              <a:lnSpc>
                <a:spcPct val="105000"/>
              </a:lnSpc>
              <a:spcBef>
                <a:spcPts val="0"/>
              </a:spcBef>
              <a:spcAft>
                <a:spcPts val="400"/>
              </a:spcAft>
              <a:buFont typeface="Arial"/>
              <a:buChar char="▪"/>
            </a:pPr>
            <a:r>
              <a:rPr sz="1350" b="0" i="0">
                <a:solidFill>
                  <a:srgbClr val="45524A"/>
                </a:solidFill>
                <a:latin typeface="Calibri"/>
              </a:rPr>
              <a:t>Business Case (/business-case) — 505(b)(2) economics</a:t>
            </a:r>
          </a:p>
          <a:p>
            <a:pPr algn="l" lvl="1">
              <a:lnSpc>
                <a:spcPct val="105000"/>
              </a:lnSpc>
              <a:spcBef>
                <a:spcPts val="0"/>
              </a:spcBef>
              <a:spcAft>
                <a:spcPts val="400"/>
              </a:spcAft>
              <a:buFont typeface="Arial"/>
              <a:buChar char="▪"/>
            </a:pPr>
            <a:r>
              <a:rPr sz="1350" b="0" i="0">
                <a:solidFill>
                  <a:srgbClr val="45524A"/>
                </a:solidFill>
                <a:latin typeface="Calibri"/>
              </a:rPr>
              <a:t>Docs &amp; Settings (/docs, /settings)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F2A24"/>
        </a:solidFill>
        <a:effectLst/>
      </p:bgPr>
    </p:bg>
    <p:spTree>
      <p:nvGrpSpPr>
        <p:cNvPr id="1" name=""/>
        <p:cNvGrpSpPr/>
        <p:nvPr/>
      </p:nvGrpSpPr>
      <p:grpSpPr/>
      <p:sp>
        <p:nvSpPr>
          <p:cNvPr id="2" name="TextBox 1"/>
          <p:cNvSpPr txBox="1"/>
          <p:nvPr/>
        </p:nvSpPr>
        <p:spPr>
          <a:xfrm>
            <a:off x="822960" y="2651760"/>
            <a:ext cx="1828800" cy="91440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6000" b="1" i="0">
                <a:solidFill>
                  <a:srgbClr val="B8860B"/>
                </a:solidFill>
                <a:latin typeface="Calibri"/>
              </a:rPr>
              <a:t>02</a:t>
            </a:r>
          </a:p>
        </p:txBody>
      </p:sp>
      <p:sp>
        <p:nvSpPr>
          <p:cNvPr id="3" name="TextBox 2"/>
          <p:cNvSpPr txBox="1"/>
          <p:nvPr/>
        </p:nvSpPr>
        <p:spPr>
          <a:xfrm>
            <a:off x="822960" y="3657600"/>
            <a:ext cx="10515600" cy="128016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3400" b="1" i="0">
                <a:solidFill>
                  <a:srgbClr val="FFFDF9"/>
                </a:solidFill>
                <a:latin typeface="Calibri"/>
              </a:rPr>
              <a:t>Resolution &amp; Discovery Engines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Disease Resolution Layer</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Keeping the platform disease-agnostic</a:t>
            </a:r>
          </a:p>
        </p:txBody>
      </p:sp>
      <p:sp>
        <p:nvSpPr>
          <p:cNvPr id="5" name="TextBox 4"/>
          <p:cNvSpPr txBox="1"/>
          <p:nvPr/>
        </p:nvSpPr>
        <p:spPr>
          <a:xfrm>
            <a:off x="548640" y="1325880"/>
            <a:ext cx="110642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disease_ontology.py — resolves a disease to Open Targets (EFO/MONDO), pulls genes (genetic weights), pathways, PPI</a:t>
            </a:r>
          </a:p>
          <a:p>
            <a:pPr algn="l">
              <a:lnSpc>
                <a:spcPct val="105000"/>
              </a:lnSpc>
              <a:spcBef>
                <a:spcPts val="0"/>
              </a:spcBef>
              <a:spcAft>
                <a:spcPts val="400"/>
              </a:spcAft>
              <a:buFont typeface="Arial"/>
              <a:buChar char="▪"/>
            </a:pPr>
            <a:r>
              <a:rPr sz="1500" b="1" i="0">
                <a:solidFill>
                  <a:srgbClr val="1F2A24"/>
                </a:solidFill>
                <a:latin typeface="Calibri"/>
              </a:rPr>
              <a:t>disease_id.py — ID reconciliation across ChEMBL MeSH, OT MONDO/EFO, RepoDB/UMLS; canonical keys</a:t>
            </a:r>
          </a:p>
          <a:p>
            <a:pPr algn="l">
              <a:lnSpc>
                <a:spcPct val="105000"/>
              </a:lnSpc>
              <a:spcBef>
                <a:spcPts val="0"/>
              </a:spcBef>
              <a:spcAft>
                <a:spcPts val="400"/>
              </a:spcAft>
              <a:buFont typeface="Arial"/>
              <a:buChar char="▪"/>
            </a:pPr>
            <a:r>
              <a:rPr sz="1500" b="1" i="0">
                <a:solidFill>
                  <a:srgbClr val="1F2A24"/>
                </a:solidFill>
                <a:latin typeface="Calibri"/>
              </a:rPr>
              <a:t>disease_resolver.py — free-text / alias / abbreviation → canonical heading (handles 'PD', 'alzheimers')</a:t>
            </a:r>
          </a:p>
          <a:p>
            <a:pPr algn="l">
              <a:lnSpc>
                <a:spcPct val="105000"/>
              </a:lnSpc>
              <a:spcBef>
                <a:spcPts val="0"/>
              </a:spcBef>
              <a:spcAft>
                <a:spcPts val="400"/>
              </a:spcAft>
              <a:buFont typeface="Arial"/>
              <a:buChar char="▪"/>
            </a:pPr>
            <a:r>
              <a:rPr sz="1500" b="1" i="0">
                <a:solidFill>
                  <a:srgbClr val="1F2A24"/>
                </a:solidFill>
                <a:latin typeface="Calibri"/>
              </a:rPr>
              <a:t>therapeutic_context.py — resolves therapeutic area / route so scoring stays disease-agnostic (no hardcoded maps)</a:t>
            </a:r>
          </a:p>
          <a:p>
            <a:pPr algn="l">
              <a:lnSpc>
                <a:spcPct val="105000"/>
              </a:lnSpc>
              <a:spcBef>
                <a:spcPts val="0"/>
              </a:spcBef>
              <a:spcAft>
                <a:spcPts val="400"/>
              </a:spcAft>
              <a:buFont typeface="Arial"/>
              <a:buChar char="▪"/>
            </a:pPr>
            <a:r>
              <a:rPr sz="1500" b="0" i="0">
                <a:solidFill>
                  <a:srgbClr val="1F2A24"/>
                </a:solidFill>
                <a:latin typeface="Calibri"/>
              </a:rPr>
              <a:t>disease_config.py — per-disease configuration hooks</a:t>
            </a:r>
          </a:p>
          <a:p>
            <a:pPr algn="l">
              <a:lnSpc>
                <a:spcPct val="105000"/>
              </a:lnSpc>
              <a:spcBef>
                <a:spcPts val="0"/>
              </a:spcBef>
              <a:spcAft>
                <a:spcPts val="400"/>
              </a:spcAft>
              <a:buFont typeface="Arial"/>
              <a:buChar char="▪"/>
            </a:pPr>
            <a:r>
              <a:rPr sz="1500" b="0" i="0">
                <a:solidFill>
                  <a:srgbClr val="1F2A24"/>
                </a:solidFill>
                <a:latin typeface="Calibri"/>
              </a:rPr>
              <a:t>Manifestation-aware: 'systemic sclerosis with pulmonary manifestations' → primary disorder + partial-fit flag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Drug / Compound Resolution</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From a name to a molecule</a:t>
            </a:r>
          </a:p>
        </p:txBody>
      </p:sp>
      <p:sp>
        <p:nvSpPr>
          <p:cNvPr id="5" name="TextBox 4"/>
          <p:cNvSpPr txBox="1"/>
          <p:nvPr/>
        </p:nvSpPr>
        <p:spPr>
          <a:xfrm>
            <a:off x="548640" y="1325880"/>
            <a:ext cx="110642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compound_validator.py — validates a molecule, RDKit sanity, canonical SMILES, identity checks</a:t>
            </a:r>
          </a:p>
          <a:p>
            <a:pPr algn="l">
              <a:lnSpc>
                <a:spcPct val="105000"/>
              </a:lnSpc>
              <a:spcBef>
                <a:spcPts val="0"/>
              </a:spcBef>
              <a:spcAft>
                <a:spcPts val="400"/>
              </a:spcAft>
              <a:buFont typeface="Arial"/>
              <a:buChar char="▪"/>
            </a:pPr>
            <a:r>
              <a:rPr sz="1500" b="1" i="0">
                <a:solidFill>
                  <a:srgbClr val="1F2A24"/>
                </a:solidFill>
                <a:latin typeface="Calibri"/>
              </a:rPr>
              <a:t>neuro_db_service.py — the platform database service over chembl_33 (compounds, targets, mechanisms, activities)</a:t>
            </a:r>
          </a:p>
          <a:p>
            <a:pPr algn="l">
              <a:lnSpc>
                <a:spcPct val="105000"/>
              </a:lnSpc>
              <a:spcBef>
                <a:spcPts val="0"/>
              </a:spcBef>
              <a:spcAft>
                <a:spcPts val="400"/>
              </a:spcAft>
              <a:buFont typeface="Arial"/>
              <a:buChar char="▪"/>
            </a:pPr>
            <a:r>
              <a:rPr sz="1500" b="1" i="0">
                <a:solidFill>
                  <a:srgbClr val="1F2A24"/>
                </a:solidFill>
                <a:latin typeface="Calibri"/>
              </a:rPr>
              <a:t>Resolution: name / ChEMBL id → compound row → protein targets (genes), max_phase, known indications, SMILES</a:t>
            </a:r>
          </a:p>
          <a:p>
            <a:pPr algn="l">
              <a:lnSpc>
                <a:spcPct val="105000"/>
              </a:lnSpc>
              <a:spcBef>
                <a:spcPts val="0"/>
              </a:spcBef>
              <a:spcAft>
                <a:spcPts val="400"/>
              </a:spcAft>
              <a:buFont typeface="Arial"/>
              <a:buChar char="▪"/>
            </a:pPr>
            <a:r>
              <a:rPr sz="1500" b="0" i="0">
                <a:solidFill>
                  <a:srgbClr val="1F2A24"/>
                </a:solidFill>
                <a:latin typeface="Calibri"/>
              </a:rPr>
              <a:t>Pharmacologic-class awareness: distinguishes a drug from a class label (e.g. 'CDK4/6 inhibitor')</a:t>
            </a:r>
          </a:p>
          <a:p>
            <a:pPr algn="l">
              <a:lnSpc>
                <a:spcPct val="105000"/>
              </a:lnSpc>
              <a:spcBef>
                <a:spcPts val="0"/>
              </a:spcBef>
              <a:spcAft>
                <a:spcPts val="400"/>
              </a:spcAft>
              <a:buFont typeface="Arial"/>
              <a:buChar char="▪"/>
            </a:pPr>
            <a:r>
              <a:rPr sz="1500" b="0" i="0">
                <a:solidFill>
                  <a:srgbClr val="1F2A24"/>
                </a:solidFill>
                <a:latin typeface="Calibri"/>
              </a:rPr>
              <a:t>Honest failure: unresolved molecule → explicit error, never docks/scores the wrong compound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Forward Engine — 5-Screen Repurposing</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repurposing_engine.py</a:t>
            </a:r>
          </a:p>
        </p:txBody>
      </p:sp>
      <p:sp>
        <p:nvSpPr>
          <p:cNvPr id="5" name="TextBox 4"/>
          <p:cNvSpPr txBox="1"/>
          <p:nvPr/>
        </p:nvSpPr>
        <p:spPr>
          <a:xfrm>
            <a:off x="548640" y="1325880"/>
            <a:ext cx="110642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Given a disease, builds a candidate pool: local DB indications + ChEMBL API + Hetionet-novelty compounds</a:t>
            </a:r>
          </a:p>
          <a:p>
            <a:pPr algn="l">
              <a:lnSpc>
                <a:spcPct val="105000"/>
              </a:lnSpc>
              <a:spcBef>
                <a:spcPts val="0"/>
              </a:spcBef>
              <a:spcAft>
                <a:spcPts val="400"/>
              </a:spcAft>
              <a:buFont typeface="Arial"/>
              <a:buChar char="▪"/>
            </a:pPr>
            <a:r>
              <a:rPr sz="1500" b="1" i="0">
                <a:solidFill>
                  <a:srgbClr val="1F2A24"/>
                </a:solidFill>
                <a:latin typeface="Calibri"/>
              </a:rPr>
              <a:t>Hetionet novelty: Compound→Gene←Disease shared-gene links surface drugs NOT already indicated — true discovery</a:t>
            </a:r>
          </a:p>
          <a:p>
            <a:pPr algn="l">
              <a:lnSpc>
                <a:spcPct val="105000"/>
              </a:lnSpc>
              <a:spcBef>
                <a:spcPts val="0"/>
              </a:spcBef>
              <a:spcAft>
                <a:spcPts val="400"/>
              </a:spcAft>
              <a:buFont typeface="Arial"/>
              <a:buChar char="▪"/>
            </a:pPr>
            <a:r>
              <a:rPr sz="1500" b="1" i="0">
                <a:solidFill>
                  <a:srgbClr val="1F2A24"/>
                </a:solidFill>
                <a:latin typeface="Calibri"/>
              </a:rPr>
              <a:t>Scores every candidate with the canonical score_compound_for_disease() — the shared scoring core</a:t>
            </a:r>
          </a:p>
          <a:p>
            <a:pPr algn="l">
              <a:lnSpc>
                <a:spcPct val="105000"/>
              </a:lnSpc>
              <a:spcBef>
                <a:spcPts val="0"/>
              </a:spcBef>
              <a:spcAft>
                <a:spcPts val="400"/>
              </a:spcAft>
              <a:buFont typeface="Arial"/>
              <a:buChar char="▪"/>
            </a:pPr>
            <a:r>
              <a:rPr sz="1500" b="1" i="0">
                <a:solidFill>
                  <a:srgbClr val="1F2A24"/>
                </a:solidFill>
                <a:latin typeface="Calibri"/>
              </a:rPr>
              <a:t>repurposing_scorer.py — a complementary DB-side scorer (indication / target / activity / network signals)</a:t>
            </a:r>
          </a:p>
          <a:p>
            <a:pPr algn="l">
              <a:lnSpc>
                <a:spcPct val="105000"/>
              </a:lnSpc>
              <a:spcBef>
                <a:spcPts val="0"/>
              </a:spcBef>
              <a:spcAft>
                <a:spcPts val="400"/>
              </a:spcAft>
              <a:buFont typeface="Arial"/>
              <a:buChar char="▪"/>
            </a:pPr>
            <a:r>
              <a:rPr sz="1500" b="0" i="0">
                <a:solidFill>
                  <a:srgbClr val="1F2A24"/>
                </a:solidFill>
                <a:latin typeface="Calibri"/>
              </a:rPr>
              <a:t>Augments thin results, resolves missing targets in batch, direction-aware pathway scoring</a:t>
            </a:r>
          </a:p>
          <a:p>
            <a:pPr algn="l">
              <a:lnSpc>
                <a:spcPct val="105000"/>
              </a:lnSpc>
              <a:spcBef>
                <a:spcPts val="0"/>
              </a:spcBef>
              <a:spcAft>
                <a:spcPts val="400"/>
              </a:spcAft>
              <a:buFont typeface="Arial"/>
              <a:buChar char="▪"/>
            </a:pPr>
            <a:r>
              <a:rPr sz="1500" b="0" i="0">
                <a:solidFill>
                  <a:srgbClr val="1F2A24"/>
                </a:solidFill>
                <a:latin typeface="Calibri"/>
              </a:rPr>
              <a:t>Output: ranked candidates with full score breakdown, novelty flags, and disease context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The Canonical Pair Score</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score_compound_for_disease() — six evidence dimensions</a:t>
            </a:r>
          </a:p>
        </p:txBody>
      </p:sp>
      <p:sp>
        <p:nvSpPr>
          <p:cNvPr id="5" name="TextBox 4"/>
          <p:cNvSpPr txBox="1"/>
          <p:nvPr/>
        </p:nvSpPr>
        <p:spPr>
          <a:xfrm>
            <a:off x="548640" y="1325880"/>
            <a:ext cx="55778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Weighted dimensions (base)</a:t>
            </a:r>
          </a:p>
          <a:p>
            <a:pPr algn="l" lvl="1">
              <a:lnSpc>
                <a:spcPct val="105000"/>
              </a:lnSpc>
              <a:spcBef>
                <a:spcPts val="0"/>
              </a:spcBef>
              <a:spcAft>
                <a:spcPts val="400"/>
              </a:spcAft>
              <a:buFont typeface="Arial"/>
              <a:buChar char="▪"/>
            </a:pPr>
            <a:r>
              <a:rPr sz="1350" b="0" i="0">
                <a:solidFill>
                  <a:srgbClr val="45524A"/>
                </a:solidFill>
                <a:latin typeface="Calibri"/>
              </a:rPr>
              <a:t>target 0.25 — genetics-weighted target overlap</a:t>
            </a:r>
          </a:p>
          <a:p>
            <a:pPr algn="l" lvl="1">
              <a:lnSpc>
                <a:spcPct val="105000"/>
              </a:lnSpc>
              <a:spcBef>
                <a:spcPts val="0"/>
              </a:spcBef>
              <a:spcAft>
                <a:spcPts val="400"/>
              </a:spcAft>
              <a:buFont typeface="Arial"/>
              <a:buChar char="▪"/>
            </a:pPr>
            <a:r>
              <a:rPr sz="1350" b="0" i="0">
                <a:solidFill>
                  <a:srgbClr val="45524A"/>
                </a:solidFill>
                <a:latin typeface="Calibri"/>
              </a:rPr>
              <a:t>pathway 0.20 — Reactome pathway cohesion (damped)</a:t>
            </a:r>
          </a:p>
          <a:p>
            <a:pPr algn="l" lvl="1">
              <a:lnSpc>
                <a:spcPct val="105000"/>
              </a:lnSpc>
              <a:spcBef>
                <a:spcPts val="0"/>
              </a:spcBef>
              <a:spcAft>
                <a:spcPts val="400"/>
              </a:spcAft>
              <a:buFont typeface="Arial"/>
              <a:buChar char="▪"/>
            </a:pPr>
            <a:r>
              <a:rPr sz="1350" b="0" i="0">
                <a:solidFill>
                  <a:srgbClr val="45524A"/>
                </a:solidFill>
                <a:latin typeface="Calibri"/>
              </a:rPr>
              <a:t>ppi 0.20 — STRING network proximity (damped)</a:t>
            </a:r>
          </a:p>
          <a:p>
            <a:pPr algn="l" lvl="1">
              <a:lnSpc>
                <a:spcPct val="105000"/>
              </a:lnSpc>
              <a:spcBef>
                <a:spcPts val="0"/>
              </a:spcBef>
              <a:spcAft>
                <a:spcPts val="400"/>
              </a:spcAft>
              <a:buFont typeface="Arial"/>
              <a:buChar char="▪"/>
            </a:pPr>
            <a:r>
              <a:rPr sz="1350" b="0" i="0">
                <a:solidFill>
                  <a:srgbClr val="45524A"/>
                </a:solidFill>
                <a:latin typeface="Calibri"/>
              </a:rPr>
              <a:t>clinical 0.15 — trials + literature for THIS pair</a:t>
            </a:r>
          </a:p>
          <a:p>
            <a:pPr algn="l" lvl="1">
              <a:lnSpc>
                <a:spcPct val="105000"/>
              </a:lnSpc>
              <a:spcBef>
                <a:spcPts val="0"/>
              </a:spcBef>
              <a:spcAft>
                <a:spcPts val="400"/>
              </a:spcAft>
              <a:buFont typeface="Arial"/>
              <a:buChar char="▪"/>
            </a:pPr>
            <a:r>
              <a:rPr sz="1350" b="0" i="0">
                <a:solidFill>
                  <a:srgbClr val="45524A"/>
                </a:solidFill>
                <a:latin typeface="Calibri"/>
              </a:rPr>
              <a:t>indication 0.10 — existing-use token match</a:t>
            </a:r>
          </a:p>
          <a:p>
            <a:pPr algn="l" lvl="1">
              <a:lnSpc>
                <a:spcPct val="105000"/>
              </a:lnSpc>
              <a:spcBef>
                <a:spcPts val="0"/>
              </a:spcBef>
              <a:spcAft>
                <a:spcPts val="400"/>
              </a:spcAft>
              <a:buFont typeface="Arial"/>
              <a:buChar char="▪"/>
            </a:pPr>
            <a:r>
              <a:rPr sz="1350" b="0" i="0">
                <a:solidFill>
                  <a:srgbClr val="45524A"/>
                </a:solidFill>
                <a:latin typeface="Calibri"/>
              </a:rPr>
              <a:t>regulatory 0.10 — development phase / orphan</a:t>
            </a:r>
          </a:p>
        </p:txBody>
      </p:sp>
      <p:sp>
        <p:nvSpPr>
          <p:cNvPr id="6" name="Rounded Rectangle 5"/>
          <p:cNvSpPr/>
          <p:nvPr/>
        </p:nvSpPr>
        <p:spPr>
          <a:xfrm>
            <a:off x="6172200" y="1371600"/>
            <a:ext cx="12700" cy="4846320"/>
          </a:xfrm>
          <a:prstGeom prst="roundRect">
            <a:avLst>
              <a:gd name="adj" fmla="val 6000"/>
            </a:avLst>
          </a:prstGeom>
          <a:solidFill>
            <a:srgbClr val="D8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55080" y="1325880"/>
            <a:ext cx="548640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Bounded bonuses (additive)</a:t>
            </a:r>
          </a:p>
          <a:p>
            <a:pPr algn="l" lvl="1">
              <a:lnSpc>
                <a:spcPct val="105000"/>
              </a:lnSpc>
              <a:spcBef>
                <a:spcPts val="0"/>
              </a:spcBef>
              <a:spcAft>
                <a:spcPts val="400"/>
              </a:spcAft>
              <a:buFont typeface="Arial"/>
              <a:buChar char="▪"/>
            </a:pPr>
            <a:r>
              <a:rPr sz="1350" b="0" i="0">
                <a:solidFill>
                  <a:srgbClr val="45524A"/>
                </a:solidFill>
                <a:latin typeface="Calibri"/>
              </a:rPr>
              <a:t>+ HetioNet network evidence (Compound→Gene←Disease)</a:t>
            </a:r>
          </a:p>
          <a:p>
            <a:pPr algn="l" lvl="1">
              <a:lnSpc>
                <a:spcPct val="105000"/>
              </a:lnSpc>
              <a:spcBef>
                <a:spcPts val="0"/>
              </a:spcBef>
              <a:spcAft>
                <a:spcPts val="400"/>
              </a:spcAft>
              <a:buFont typeface="Arial"/>
              <a:buChar char="▪"/>
            </a:pPr>
            <a:r>
              <a:rPr sz="1350" b="0" i="0">
                <a:solidFill>
                  <a:srgbClr val="45524A"/>
                </a:solidFill>
                <a:latin typeface="Calibri"/>
              </a:rPr>
              <a:t>+ directional literature (typed drug→gene→disease, DRKG)</a:t>
            </a:r>
          </a:p>
          <a:p>
            <a:pPr algn="l">
              <a:lnSpc>
                <a:spcPct val="105000"/>
              </a:lnSpc>
              <a:spcBef>
                <a:spcPts val="0"/>
              </a:spcBef>
              <a:spcAft>
                <a:spcPts val="400"/>
              </a:spcAft>
              <a:buFont typeface="Arial"/>
              <a:buChar char="▪"/>
            </a:pPr>
            <a:r>
              <a:rPr sz="1500" b="1" i="0">
                <a:solidFill>
                  <a:srgbClr val="1F2A24"/>
                </a:solidFill>
                <a:latin typeface="Calibri"/>
              </a:rPr>
              <a:t>Consistency</a:t>
            </a:r>
          </a:p>
          <a:p>
            <a:pPr algn="l" lvl="1">
              <a:lnSpc>
                <a:spcPct val="105000"/>
              </a:lnSpc>
              <a:spcBef>
                <a:spcPts val="0"/>
              </a:spcBef>
              <a:spcAft>
                <a:spcPts val="400"/>
              </a:spcAft>
              <a:buFont typeface="Arial"/>
              <a:buChar char="▪"/>
            </a:pPr>
            <a:r>
              <a:rPr sz="1350" b="0" i="0">
                <a:solidFill>
                  <a:srgbClr val="45524A"/>
                </a:solidFill>
                <a:latin typeface="Calibri"/>
              </a:rPr>
              <a:t>One function, every surface → same number everywhere</a:t>
            </a:r>
          </a:p>
          <a:p>
            <a:pPr algn="l" lvl="1">
              <a:lnSpc>
                <a:spcPct val="105000"/>
              </a:lnSpc>
              <a:spcBef>
                <a:spcPts val="0"/>
              </a:spcBef>
              <a:spcAft>
                <a:spcPts val="400"/>
              </a:spcAft>
              <a:buFont typeface="Arial"/>
              <a:buChar char="▪"/>
            </a:pPr>
            <a:r>
              <a:rPr sz="1350" b="0" i="0">
                <a:solidFill>
                  <a:srgbClr val="45524A"/>
                </a:solidFill>
                <a:latin typeface="Calibri"/>
              </a:rPr>
              <a:t>Full breakdown returned for transparency</a:t>
            </a:r>
          </a:p>
        </p:txBody>
      </p:sp>
      <p:sp>
        <p:nvSpPr>
          <p:cNvPr id="8" name="TextBox 7"/>
          <p:cNvSpPr txBox="1"/>
          <p:nvPr/>
        </p:nvSpPr>
        <p:spPr>
          <a:xfrm>
            <a:off x="548640" y="6419088"/>
            <a:ext cx="1106424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100" b="0" i="1">
                <a:solidFill>
                  <a:srgbClr val="B8860B"/>
                </a:solidFill>
                <a:latin typeface="Calibri"/>
              </a:rPr>
              <a:t>Shared by discover, repurpose, pathway, novel-targets and the dossier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Applicable-Weight Renormalization</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The 2026-07 fix for systematic harshness</a:t>
            </a:r>
          </a:p>
        </p:txBody>
      </p:sp>
      <p:sp>
        <p:nvSpPr>
          <p:cNvPr id="5" name="TextBox 4"/>
          <p:cNvSpPr txBox="1"/>
          <p:nvPr/>
        </p:nvSpPr>
        <p:spPr>
          <a:xfrm>
            <a:off x="548640" y="1325880"/>
            <a:ext cx="110642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Problem: for a genuinely NOVEL pair, indication≈0 and clinical sits at its floor → ~35% of weight is dead</a:t>
            </a:r>
          </a:p>
          <a:p>
            <a:pPr algn="l">
              <a:lnSpc>
                <a:spcPct val="105000"/>
              </a:lnSpc>
              <a:spcBef>
                <a:spcPts val="0"/>
              </a:spcBef>
              <a:spcAft>
                <a:spcPts val="400"/>
              </a:spcAft>
              <a:buFont typeface="Arial"/>
              <a:buChar char="▪"/>
            </a:pPr>
            <a:r>
              <a:rPr sz="1500" b="1" i="0">
                <a:solidFill>
                  <a:srgbClr val="1F2A24"/>
                </a:solidFill>
                <a:latin typeface="Calibri"/>
              </a:rPr>
              <a:t>Result was a hard ceiling (~0.10) — real leads read as a '10 / 100' regardless of mechanism strength</a:t>
            </a:r>
          </a:p>
          <a:p>
            <a:pPr algn="l">
              <a:lnSpc>
                <a:spcPct val="105000"/>
              </a:lnSpc>
              <a:spcBef>
                <a:spcPts val="0"/>
              </a:spcBef>
              <a:spcAft>
                <a:spcPts val="400"/>
              </a:spcAft>
              <a:buFont typeface="Arial"/>
              <a:buChar char="▪"/>
            </a:pPr>
            <a:r>
              <a:rPr sz="1500" b="1" i="0">
                <a:solidFill>
                  <a:srgbClr val="1F2A24"/>
                </a:solidFill>
                <a:latin typeface="Calibri"/>
              </a:rPr>
              <a:t>Fix: renormalize the disease-specific mechanistic mass over only the dimensions that carry signal</a:t>
            </a:r>
          </a:p>
          <a:p>
            <a:pPr algn="l">
              <a:lnSpc>
                <a:spcPct val="105000"/>
              </a:lnSpc>
              <a:spcBef>
                <a:spcPts val="0"/>
              </a:spcBef>
              <a:spcAft>
                <a:spcPts val="400"/>
              </a:spcAft>
              <a:buFont typeface="Arial"/>
              <a:buChar char="▪"/>
            </a:pPr>
            <a:r>
              <a:rPr sz="1500" b="1" i="0">
                <a:solidFill>
                  <a:srgbClr val="1F2A24"/>
                </a:solidFill>
                <a:latin typeface="Calibri"/>
              </a:rPr>
              <a:t>Regulatory kept as a small GLOBAL prior — NOT amplified (avoids rewarding an unrelated approved drug)</a:t>
            </a:r>
          </a:p>
          <a:p>
            <a:pPr algn="l">
              <a:lnSpc>
                <a:spcPct val="105000"/>
              </a:lnSpc>
              <a:spcBef>
                <a:spcPts val="0"/>
              </a:spcBef>
              <a:spcAft>
                <a:spcPts val="400"/>
              </a:spcAft>
              <a:buFont typeface="Arial"/>
              <a:buChar char="▪"/>
            </a:pPr>
            <a:r>
              <a:rPr sz="1500" b="0" i="0">
                <a:solidFill>
                  <a:srgbClr val="1F2A24"/>
                </a:solidFill>
                <a:latin typeface="Calibri"/>
              </a:rPr>
              <a:t>Denominator floor prevents a lone weak signal from being over-amplified — separates leads, not inflates</a:t>
            </a:r>
          </a:p>
          <a:p>
            <a:pPr algn="l">
              <a:lnSpc>
                <a:spcPct val="105000"/>
              </a:lnSpc>
              <a:spcBef>
                <a:spcPts val="0"/>
              </a:spcBef>
              <a:spcAft>
                <a:spcPts val="400"/>
              </a:spcAft>
              <a:buFont typeface="Arial"/>
              <a:buChar char="▪"/>
            </a:pPr>
            <a:r>
              <a:rPr sz="1500" b="0" i="0">
                <a:solidFill>
                  <a:srgbClr val="1F2A24"/>
                </a:solidFill>
                <a:latin typeface="Calibri"/>
              </a:rPr>
              <a:t>Validated: Metformin→Alzheimer 0.36→0.47; Riluzole→ALS 0.47→0.55; weak/random pairs stay at the floor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Evidence Sub-Signals</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How each dimension is computed</a:t>
            </a:r>
          </a:p>
        </p:txBody>
      </p:sp>
      <p:sp>
        <p:nvSpPr>
          <p:cNvPr id="5" name="TextBox 4"/>
          <p:cNvSpPr txBox="1"/>
          <p:nvPr/>
        </p:nvSpPr>
        <p:spPr>
          <a:xfrm>
            <a:off x="548640" y="1325880"/>
            <a:ext cx="55778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Mechanistic</a:t>
            </a:r>
          </a:p>
          <a:p>
            <a:pPr algn="l" lvl="1">
              <a:lnSpc>
                <a:spcPct val="105000"/>
              </a:lnSpc>
              <a:spcBef>
                <a:spcPts val="0"/>
              </a:spcBef>
              <a:spcAft>
                <a:spcPts val="400"/>
              </a:spcAft>
              <a:buFont typeface="Arial"/>
              <a:buChar char="▪"/>
            </a:pPr>
            <a:r>
              <a:rPr sz="1350" b="0" i="0">
                <a:solidFill>
                  <a:srgbClr val="45524A"/>
                </a:solidFill>
                <a:latin typeface="Calibri"/>
              </a:rPr>
              <a:t>hub_degree.py — DWPC damping of network hubs</a:t>
            </a:r>
          </a:p>
          <a:p>
            <a:pPr algn="l" lvl="1">
              <a:lnSpc>
                <a:spcPct val="105000"/>
              </a:lnSpc>
              <a:spcBef>
                <a:spcPts val="0"/>
              </a:spcBef>
              <a:spcAft>
                <a:spcPts val="400"/>
              </a:spcAft>
              <a:buFont typeface="Arial"/>
              <a:buChar char="▪"/>
            </a:pPr>
            <a:r>
              <a:rPr sz="1350" b="0" i="0">
                <a:solidFill>
                  <a:srgbClr val="45524A"/>
                </a:solidFill>
                <a:latin typeface="Calibri"/>
              </a:rPr>
              <a:t>signature_engine.py — signed connectivity (reverse vs mimic disease signature)</a:t>
            </a:r>
          </a:p>
          <a:p>
            <a:pPr algn="l" lvl="1">
              <a:lnSpc>
                <a:spcPct val="105000"/>
              </a:lnSpc>
              <a:spcBef>
                <a:spcPts val="0"/>
              </a:spcBef>
              <a:spcAft>
                <a:spcPts val="400"/>
              </a:spcAft>
              <a:buFont typeface="Arial"/>
              <a:buChar char="▪"/>
            </a:pPr>
            <a:r>
              <a:rPr sz="1350" b="0" i="0">
                <a:solidFill>
                  <a:srgbClr val="45524A"/>
                </a:solidFill>
                <a:latin typeface="Calibri"/>
              </a:rPr>
              <a:t>target_coverage.py — polygenic driver-set coverage</a:t>
            </a:r>
          </a:p>
        </p:txBody>
      </p:sp>
      <p:sp>
        <p:nvSpPr>
          <p:cNvPr id="6" name="Rounded Rectangle 5"/>
          <p:cNvSpPr/>
          <p:nvPr/>
        </p:nvSpPr>
        <p:spPr>
          <a:xfrm>
            <a:off x="6172200" y="1371600"/>
            <a:ext cx="12700" cy="4846320"/>
          </a:xfrm>
          <a:prstGeom prst="roundRect">
            <a:avLst>
              <a:gd name="adj" fmla="val 6000"/>
            </a:avLst>
          </a:prstGeom>
          <a:solidFill>
            <a:srgbClr val="D8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55080" y="1325880"/>
            <a:ext cx="548640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Literature &amp; network</a:t>
            </a:r>
          </a:p>
          <a:p>
            <a:pPr algn="l" lvl="1">
              <a:lnSpc>
                <a:spcPct val="105000"/>
              </a:lnSpc>
              <a:spcBef>
                <a:spcPts val="0"/>
              </a:spcBef>
              <a:spcAft>
                <a:spcPts val="400"/>
              </a:spcAft>
              <a:buFont typeface="Arial"/>
              <a:buChar char="▪"/>
            </a:pPr>
            <a:r>
              <a:rPr sz="1350" b="0" i="0">
                <a:solidFill>
                  <a:srgbClr val="45524A"/>
                </a:solidFill>
                <a:latin typeface="Calibri"/>
              </a:rPr>
              <a:t>directional_evidence.py — typed DRKG triples (drug→gene→disease)</a:t>
            </a:r>
          </a:p>
          <a:p>
            <a:pPr algn="l" lvl="1">
              <a:lnSpc>
                <a:spcPct val="105000"/>
              </a:lnSpc>
              <a:spcBef>
                <a:spcPts val="0"/>
              </a:spcBef>
              <a:spcAft>
                <a:spcPts val="400"/>
              </a:spcAft>
              <a:buFont typeface="Arial"/>
              <a:buChar char="▪"/>
            </a:pPr>
            <a:r>
              <a:rPr sz="1350" b="0" i="0">
                <a:solidFill>
                  <a:srgbClr val="45524A"/>
                </a:solidFill>
                <a:latin typeface="Calibri"/>
              </a:rPr>
              <a:t>repurposing_scorer.py — HetioNet Compound→Gene←Disease paths</a:t>
            </a:r>
          </a:p>
          <a:p>
            <a:pPr algn="l" lvl="1">
              <a:lnSpc>
                <a:spcPct val="105000"/>
              </a:lnSpc>
              <a:spcBef>
                <a:spcPts val="0"/>
              </a:spcBef>
              <a:spcAft>
                <a:spcPts val="400"/>
              </a:spcAft>
              <a:buFont typeface="Arial"/>
              <a:buChar char="▪"/>
            </a:pPr>
            <a:r>
              <a:rPr sz="1350" b="0" i="0">
                <a:solidFill>
                  <a:srgbClr val="45524A"/>
                </a:solidFill>
                <a:latin typeface="Calibri"/>
              </a:rPr>
              <a:t>kg_embedding.py / kg_score.py — DistMult link-prediction signal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Guardrails — The Penalty Layer</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Down-ranking implausible or dead pairs (honestly)</a:t>
            </a:r>
          </a:p>
        </p:txBody>
      </p:sp>
      <p:sp>
        <p:nvSpPr>
          <p:cNvPr id="5" name="TextBox 4"/>
          <p:cNvSpPr txBox="1"/>
          <p:nvPr/>
        </p:nvSpPr>
        <p:spPr>
          <a:xfrm>
            <a:off x="548640" y="1325880"/>
            <a:ext cx="55778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Soft penalties (take the worst, not the product)</a:t>
            </a:r>
          </a:p>
          <a:p>
            <a:pPr algn="l" lvl="1">
              <a:lnSpc>
                <a:spcPct val="105000"/>
              </a:lnSpc>
              <a:spcBef>
                <a:spcPts val="0"/>
              </a:spcBef>
              <a:spcAft>
                <a:spcPts val="400"/>
              </a:spcAft>
              <a:buFont typeface="Arial"/>
              <a:buChar char="▪"/>
            </a:pPr>
            <a:r>
              <a:rPr sz="1350" b="0" i="0">
                <a:solidFill>
                  <a:srgbClr val="45524A"/>
                </a:solidFill>
                <a:latin typeface="Calibri"/>
              </a:rPr>
              <a:t>safety_filter.py — FAERS toxicity ↔ disease-organ</a:t>
            </a:r>
          </a:p>
          <a:p>
            <a:pPr algn="l" lvl="1">
              <a:lnSpc>
                <a:spcPct val="105000"/>
              </a:lnSpc>
              <a:spcBef>
                <a:spcPts val="0"/>
              </a:spcBef>
              <a:spcAft>
                <a:spcPts val="400"/>
              </a:spcAft>
              <a:buFont typeface="Arial"/>
              <a:buChar char="▪"/>
            </a:pPr>
            <a:r>
              <a:rPr sz="1350" b="0" i="0">
                <a:solidFill>
                  <a:srgbClr val="45524A"/>
                </a:solidFill>
                <a:latin typeface="Calibri"/>
              </a:rPr>
              <a:t>clinical_constraints.py — severity / chronicity fit (CCH)</a:t>
            </a:r>
          </a:p>
          <a:p>
            <a:pPr algn="l" lvl="1">
              <a:lnSpc>
                <a:spcPct val="105000"/>
              </a:lnSpc>
              <a:spcBef>
                <a:spcPts val="0"/>
              </a:spcBef>
              <a:spcAft>
                <a:spcPts val="400"/>
              </a:spcAft>
              <a:buFont typeface="Arial"/>
              <a:buChar char="▪"/>
            </a:pPr>
            <a:r>
              <a:rPr sz="1350" b="0" i="0">
                <a:solidFill>
                  <a:srgbClr val="45524A"/>
                </a:solidFill>
                <a:latin typeface="Calibri"/>
              </a:rPr>
              <a:t>target_coverage.py — incomplete polygenic coverage</a:t>
            </a:r>
          </a:p>
        </p:txBody>
      </p:sp>
      <p:sp>
        <p:nvSpPr>
          <p:cNvPr id="6" name="Rounded Rectangle 5"/>
          <p:cNvSpPr/>
          <p:nvPr/>
        </p:nvSpPr>
        <p:spPr>
          <a:xfrm>
            <a:off x="6172200" y="1371600"/>
            <a:ext cx="12700" cy="4846320"/>
          </a:xfrm>
          <a:prstGeom prst="roundRect">
            <a:avLst>
              <a:gd name="adj" fmla="val 6000"/>
            </a:avLst>
          </a:prstGeom>
          <a:solidFill>
            <a:srgbClr val="D8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55080" y="1325880"/>
            <a:ext cx="548640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Hard gates (evidence-based, still stack)</a:t>
            </a:r>
          </a:p>
          <a:p>
            <a:pPr algn="l" lvl="1">
              <a:lnSpc>
                <a:spcPct val="105000"/>
              </a:lnSpc>
              <a:spcBef>
                <a:spcPts val="0"/>
              </a:spcBef>
              <a:spcAft>
                <a:spcPts val="400"/>
              </a:spcAft>
              <a:buFont typeface="Arial"/>
              <a:buChar char="▪"/>
            </a:pPr>
            <a:r>
              <a:rPr sz="1350" b="0" i="0">
                <a:solidFill>
                  <a:srgbClr val="45524A"/>
                </a:solidFill>
                <a:latin typeface="Calibri"/>
              </a:rPr>
              <a:t>CTPA Rule 1 — phantom off-target (no cohesion)</a:t>
            </a:r>
          </a:p>
          <a:p>
            <a:pPr algn="l" lvl="1">
              <a:lnSpc>
                <a:spcPct val="105000"/>
              </a:lnSpc>
              <a:spcBef>
                <a:spcPts val="0"/>
              </a:spcBef>
              <a:spcAft>
                <a:spcPts val="400"/>
              </a:spcAft>
              <a:buFont typeface="Arial"/>
              <a:buChar char="▪"/>
            </a:pPr>
            <a:r>
              <a:rPr sz="1350" b="0" i="0">
                <a:solidFill>
                  <a:srgbClr val="45524A"/>
                </a:solidFill>
                <a:latin typeface="Calibri"/>
              </a:rPr>
              <a:t>CTPA Rule 2 — registry ghost (registry_audit.py)</a:t>
            </a:r>
          </a:p>
          <a:p>
            <a:pPr algn="l" lvl="1">
              <a:lnSpc>
                <a:spcPct val="105000"/>
              </a:lnSpc>
              <a:spcBef>
                <a:spcPts val="0"/>
              </a:spcBef>
              <a:spcAft>
                <a:spcPts val="400"/>
              </a:spcAft>
              <a:buFont typeface="Arial"/>
              <a:buChar char="▪"/>
            </a:pPr>
            <a:r>
              <a:rPr sz="1350" b="0" i="0">
                <a:solidFill>
                  <a:srgbClr val="45524A"/>
                </a:solidFill>
                <a:latin typeface="Calibri"/>
              </a:rPr>
              <a:t>Trial-failed-here — a real terminated trial in this pair</a:t>
            </a:r>
          </a:p>
          <a:p>
            <a:pPr algn="l" lvl="1">
              <a:lnSpc>
                <a:spcPct val="105000"/>
              </a:lnSpc>
              <a:spcBef>
                <a:spcPts val="0"/>
              </a:spcBef>
              <a:spcAft>
                <a:spcPts val="400"/>
              </a:spcAft>
              <a:buFont typeface="Arial"/>
              <a:buChar char="▪"/>
            </a:pPr>
            <a:r>
              <a:rPr sz="1350" b="0" i="0">
                <a:solidFill>
                  <a:srgbClr val="45524A"/>
                </a:solidFill>
                <a:latin typeface="Calibri"/>
              </a:rPr>
              <a:t>2026 fix: collapse soft penalties → stop double-counting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Reverse Repurposing Engine</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reverse_repurposing.py — drug → new indications (505(b)(2))</a:t>
            </a:r>
          </a:p>
        </p:txBody>
      </p:sp>
      <p:sp>
        <p:nvSpPr>
          <p:cNvPr id="5" name="TextBox 4"/>
          <p:cNvSpPr txBox="1"/>
          <p:nvPr/>
        </p:nvSpPr>
        <p:spPr>
          <a:xfrm>
            <a:off x="548640" y="1325880"/>
            <a:ext cx="110642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Enter a molecule you already hold approval for → derive targets → find NEW candidate indications</a:t>
            </a:r>
          </a:p>
          <a:p>
            <a:pPr algn="l">
              <a:lnSpc>
                <a:spcPct val="105000"/>
              </a:lnSpc>
              <a:spcBef>
                <a:spcPts val="0"/>
              </a:spcBef>
              <a:spcAft>
                <a:spcPts val="400"/>
              </a:spcAft>
              <a:buFont typeface="Arial"/>
              <a:buChar char="▪"/>
            </a:pPr>
            <a:r>
              <a:rPr sz="1500" b="1" i="0">
                <a:solidFill>
                  <a:srgbClr val="1F2A24"/>
                </a:solidFill>
                <a:latin typeface="Calibri"/>
              </a:rPr>
              <a:t>Candidates from three orthogonal sources: Open Targets genetics + ClinicalTrials.gov + PubMed co-mention</a:t>
            </a:r>
          </a:p>
          <a:p>
            <a:pPr algn="l">
              <a:lnSpc>
                <a:spcPct val="105000"/>
              </a:lnSpc>
              <a:spcBef>
                <a:spcPts val="0"/>
              </a:spcBef>
              <a:spcAft>
                <a:spcPts val="400"/>
              </a:spcAft>
              <a:buFont typeface="Arial"/>
              <a:buChar char="▪"/>
            </a:pPr>
            <a:r>
              <a:rPr sz="1500" b="1" i="0">
                <a:solidFill>
                  <a:srgbClr val="1F2A24"/>
                </a:solidFill>
                <a:latin typeface="Calibri"/>
              </a:rPr>
              <a:t>Excludes on-label indications up front (a new use, not a confirmation)</a:t>
            </a:r>
          </a:p>
          <a:p>
            <a:pPr algn="l">
              <a:lnSpc>
                <a:spcPct val="105000"/>
              </a:lnSpc>
              <a:spcBef>
                <a:spcPts val="0"/>
              </a:spcBef>
              <a:spcAft>
                <a:spcPts val="400"/>
              </a:spcAft>
              <a:buFont typeface="Arial"/>
              <a:buChar char="▪"/>
            </a:pPr>
            <a:r>
              <a:rPr sz="1500" b="1" i="0">
                <a:solidFill>
                  <a:srgbClr val="1F2A24"/>
                </a:solidFill>
                <a:latin typeface="Calibri"/>
              </a:rPr>
              <a:t>Ranks by the canonical pair score; reports 505(b)(2) feasibility separately (not in the rank)</a:t>
            </a:r>
          </a:p>
          <a:p>
            <a:pPr algn="l">
              <a:lnSpc>
                <a:spcPct val="105000"/>
              </a:lnSpc>
              <a:spcBef>
                <a:spcPts val="0"/>
              </a:spcBef>
              <a:spcAft>
                <a:spcPts val="400"/>
              </a:spcAft>
              <a:buFont typeface="Arial"/>
              <a:buChar char="▪"/>
            </a:pPr>
            <a:r>
              <a:rPr sz="1500" b="0" i="0">
                <a:solidFill>
                  <a:srgbClr val="1F2A24"/>
                </a:solidFill>
                <a:latin typeface="Calibri"/>
              </a:rPr>
              <a:t>Phenotype filter: drops toxicity phenotypes/signs that aren't repurposable diseases</a:t>
            </a:r>
          </a:p>
          <a:p>
            <a:pPr algn="l">
              <a:lnSpc>
                <a:spcPct val="105000"/>
              </a:lnSpc>
              <a:spcBef>
                <a:spcPts val="0"/>
              </a:spcBef>
              <a:spcAft>
                <a:spcPts val="400"/>
              </a:spcAft>
              <a:buFont typeface="Arial"/>
              <a:buChar char="▪"/>
            </a:pPr>
            <a:r>
              <a:rPr sz="1500" b="0" i="0">
                <a:solidFill>
                  <a:srgbClr val="1F2A24"/>
                </a:solidFill>
                <a:latin typeface="Calibri"/>
              </a:rPr>
              <a:t>This is the Alembic engagement's core surface (/repurpose)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Pathway-First Screen</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pathway_screen.py — enter through biology</a:t>
            </a:r>
          </a:p>
        </p:txBody>
      </p:sp>
      <p:sp>
        <p:nvSpPr>
          <p:cNvPr id="5" name="TextBox 4"/>
          <p:cNvSpPr txBox="1"/>
          <p:nvPr/>
        </p:nvSpPr>
        <p:spPr>
          <a:xfrm>
            <a:off x="548640" y="1325880"/>
            <a:ext cx="110642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Enter a biological PATHWAY (e.g. 'mTOR signaling') and a desired direction (suppress / activate)</a:t>
            </a:r>
          </a:p>
          <a:p>
            <a:pPr algn="l">
              <a:lnSpc>
                <a:spcPct val="105000"/>
              </a:lnSpc>
              <a:spcBef>
                <a:spcPts val="0"/>
              </a:spcBef>
              <a:spcAft>
                <a:spcPts val="400"/>
              </a:spcAft>
              <a:buFont typeface="Arial"/>
              <a:buChar char="▪"/>
            </a:pPr>
            <a:r>
              <a:rPr sz="1500" b="1" i="0">
                <a:solidFill>
                  <a:srgbClr val="1F2A24"/>
                </a:solidFill>
                <a:latin typeface="Calibri"/>
              </a:rPr>
              <a:t>Pathway → member genes → drugs that modulate them (direction-aware) + diseases the pathway drives (Open Targets)</a:t>
            </a:r>
          </a:p>
          <a:p>
            <a:pPr algn="l">
              <a:lnSpc>
                <a:spcPct val="105000"/>
              </a:lnSpc>
              <a:spcBef>
                <a:spcPts val="0"/>
              </a:spcBef>
              <a:spcAft>
                <a:spcPts val="400"/>
              </a:spcAft>
              <a:buFont typeface="Arial"/>
              <a:buChar char="▪"/>
            </a:pPr>
            <a:r>
              <a:rPr sz="1500" b="1" i="0">
                <a:solidFill>
                  <a:srgbClr val="1F2A24"/>
                </a:solidFill>
                <a:latin typeface="Calibri"/>
              </a:rPr>
              <a:t>Emits genuine drug↔indication repurposing pairs, scored with the SAME canonical pair score</a:t>
            </a:r>
          </a:p>
          <a:p>
            <a:pPr algn="l">
              <a:lnSpc>
                <a:spcPct val="105000"/>
              </a:lnSpc>
              <a:spcBef>
                <a:spcPts val="0"/>
              </a:spcBef>
              <a:spcAft>
                <a:spcPts val="400"/>
              </a:spcAft>
              <a:buFont typeface="Arial"/>
              <a:buChar char="▪"/>
            </a:pPr>
            <a:r>
              <a:rPr sz="1500" b="1" i="0">
                <a:solidFill>
                  <a:srgbClr val="1F2A24"/>
                </a:solidFill>
                <a:latin typeface="Calibri"/>
              </a:rPr>
              <a:t>Mode B (discovery): pathway → inferred diseases; Mode A (anchored): pathway as a filter on a disease screen</a:t>
            </a:r>
          </a:p>
          <a:p>
            <a:pPr algn="l">
              <a:lnSpc>
                <a:spcPct val="105000"/>
              </a:lnSpc>
              <a:spcBef>
                <a:spcPts val="0"/>
              </a:spcBef>
              <a:spcAft>
                <a:spcPts val="400"/>
              </a:spcAft>
              <a:buFont typeface="Arial"/>
              <a:buChar char="▪"/>
            </a:pPr>
            <a:r>
              <a:rPr sz="1500" b="0" i="0">
                <a:solidFill>
                  <a:srgbClr val="1F2A24"/>
                </a:solidFill>
                <a:latin typeface="Calibri"/>
              </a:rPr>
              <a:t>Fuzzy pathway name resolution (Greek letters, spelling variants: NF-kB ↔ NF-kappaB)</a:t>
            </a:r>
          </a:p>
          <a:p>
            <a:pPr algn="l">
              <a:lnSpc>
                <a:spcPct val="105000"/>
              </a:lnSpc>
              <a:spcBef>
                <a:spcPts val="0"/>
              </a:spcBef>
              <a:spcAft>
                <a:spcPts val="400"/>
              </a:spcAft>
              <a:buFont typeface="Arial"/>
              <a:buChar char="▪"/>
            </a:pPr>
            <a:r>
              <a:rPr sz="1500" b="0" i="0">
                <a:solidFill>
                  <a:srgbClr val="1F2A24"/>
                </a:solidFill>
                <a:latin typeface="Calibri"/>
              </a:rPr>
              <a:t>Modulation score = direction-match + coverage + phase; fed to the scorer as a mechanistic prior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Novel-Target Discovery</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novel_targets.py — from validation to discovery</a:t>
            </a:r>
          </a:p>
        </p:txBody>
      </p:sp>
      <p:sp>
        <p:nvSpPr>
          <p:cNvPr id="5" name="TextBox 4"/>
          <p:cNvSpPr txBox="1"/>
          <p:nvPr/>
        </p:nvSpPr>
        <p:spPr>
          <a:xfrm>
            <a:off x="548640" y="1325880"/>
            <a:ext cx="110642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Infers targets NOT yet annotated to a disease via PPI guilt-by-association off the known seed genes</a:t>
            </a:r>
          </a:p>
          <a:p>
            <a:pPr algn="l">
              <a:lnSpc>
                <a:spcPct val="105000"/>
              </a:lnSpc>
              <a:spcBef>
                <a:spcPts val="0"/>
              </a:spcBef>
              <a:spcAft>
                <a:spcPts val="400"/>
              </a:spcAft>
              <a:buFont typeface="Arial"/>
              <a:buChar char="▪"/>
            </a:pPr>
            <a:r>
              <a:rPr sz="1500" b="1" i="0">
                <a:solidFill>
                  <a:srgbClr val="1F2A24"/>
                </a:solidFill>
                <a:latin typeface="Calibri"/>
              </a:rPr>
              <a:t>disease → OT seed genes (genetic weight) → STRING PPI partners → a well-connected non-seed gene = candidate</a:t>
            </a:r>
          </a:p>
          <a:p>
            <a:pPr algn="l">
              <a:lnSpc>
                <a:spcPct val="105000"/>
              </a:lnSpc>
              <a:spcBef>
                <a:spcPts val="0"/>
              </a:spcBef>
              <a:spcAft>
                <a:spcPts val="400"/>
              </a:spcAft>
              <a:buFont typeface="Arial"/>
              <a:buChar char="▪"/>
            </a:pPr>
            <a:r>
              <a:rPr sz="1500" b="1" i="0">
                <a:solidFill>
                  <a:srgbClr val="1F2A24"/>
                </a:solidFill>
                <a:latin typeface="Calibri"/>
              </a:rPr>
              <a:t>Each inferred target carries its evidence (which seeds, at what confidence) + a normalized confidence</a:t>
            </a:r>
          </a:p>
          <a:p>
            <a:pPr algn="l">
              <a:lnSpc>
                <a:spcPct val="105000"/>
              </a:lnSpc>
              <a:spcBef>
                <a:spcPts val="0"/>
              </a:spcBef>
              <a:spcAft>
                <a:spcPts val="400"/>
              </a:spcAft>
              <a:buFont typeface="Arial"/>
              <a:buChar char="▪"/>
            </a:pPr>
            <a:r>
              <a:rPr sz="1500" b="1" i="0">
                <a:solidFill>
                  <a:srgbClr val="1F2A24"/>
                </a:solidFill>
                <a:latin typeface="Calibri"/>
              </a:rPr>
              <a:t>drugs_via_novel_targets() closes the loop: drugs hitting inferred targets = leads reachable ONLY via novelty</a:t>
            </a:r>
          </a:p>
          <a:p>
            <a:pPr algn="l">
              <a:lnSpc>
                <a:spcPct val="105000"/>
              </a:lnSpc>
              <a:spcBef>
                <a:spcPts val="0"/>
              </a:spcBef>
              <a:spcAft>
                <a:spcPts val="400"/>
              </a:spcAft>
              <a:buFont typeface="Arial"/>
              <a:buChar char="▪"/>
            </a:pPr>
            <a:r>
              <a:rPr sz="1500" b="0" i="0">
                <a:solidFill>
                  <a:srgbClr val="1F2A24"/>
                </a:solidFill>
                <a:latin typeface="Calibri"/>
              </a:rPr>
              <a:t>Clearly labelled INFERRED (network-based), not an experimentally annotated association — fail-soft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Positive Pivots &amp; Class Comparison</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Turning a mismatch into a lead</a:t>
            </a:r>
          </a:p>
        </p:txBody>
      </p:sp>
      <p:sp>
        <p:nvSpPr>
          <p:cNvPr id="5" name="TextBox 4"/>
          <p:cNvSpPr txBox="1"/>
          <p:nvPr/>
        </p:nvSpPr>
        <p:spPr>
          <a:xfrm>
            <a:off x="548640" y="1325880"/>
            <a:ext cx="110642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positive_pivots.py — when a pair is penalised (e.g. too toxic), suggest HOW to make it work</a:t>
            </a:r>
          </a:p>
          <a:p>
            <a:pPr algn="l" lvl="1">
              <a:lnSpc>
                <a:spcPct val="105000"/>
              </a:lnSpc>
              <a:spcBef>
                <a:spcPts val="0"/>
              </a:spcBef>
              <a:spcAft>
                <a:spcPts val="400"/>
              </a:spcAft>
              <a:buFont typeface="Arial"/>
              <a:buChar char="▪"/>
            </a:pPr>
            <a:r>
              <a:rPr sz="1350" b="0" i="0">
                <a:solidFill>
                  <a:srgbClr val="45524A"/>
                </a:solidFill>
                <a:latin typeface="Calibri"/>
              </a:rPr>
              <a:t>  • pivot to a high-severity / orphan variant where the therapeutic window opens</a:t>
            </a:r>
          </a:p>
          <a:p>
            <a:pPr algn="l" lvl="1">
              <a:lnSpc>
                <a:spcPct val="105000"/>
              </a:lnSpc>
              <a:spcBef>
                <a:spcPts val="0"/>
              </a:spcBef>
              <a:spcAft>
                <a:spcPts val="400"/>
              </a:spcAft>
              <a:buFont typeface="Arial"/>
              <a:buChar char="▪"/>
            </a:pPr>
            <a:r>
              <a:rPr sz="1350" b="0" i="0">
                <a:solidFill>
                  <a:srgbClr val="45524A"/>
                </a:solidFill>
                <a:latin typeface="Calibri"/>
              </a:rPr>
              <a:t>  • pivot to a dose-sparing combination with a low-toxicity partner on the same target</a:t>
            </a:r>
          </a:p>
          <a:p>
            <a:pPr algn="l">
              <a:lnSpc>
                <a:spcPct val="105000"/>
              </a:lnSpc>
              <a:spcBef>
                <a:spcPts val="0"/>
              </a:spcBef>
              <a:spcAft>
                <a:spcPts val="400"/>
              </a:spcAft>
              <a:buFont typeface="Arial"/>
              <a:buChar char="▪"/>
            </a:pPr>
            <a:r>
              <a:rPr sz="1500" b="1" i="0">
                <a:solidFill>
                  <a:srgbClr val="1F2A24"/>
                </a:solidFill>
                <a:latin typeface="Calibri"/>
              </a:rPr>
              <a:t>class_comparison.py — within-class vs out-of-class differentiation (is the effect class-wide or drug-specific?)</a:t>
            </a:r>
          </a:p>
          <a:p>
            <a:pPr algn="l">
              <a:lnSpc>
                <a:spcPct val="105000"/>
              </a:lnSpc>
              <a:spcBef>
                <a:spcPts val="0"/>
              </a:spcBef>
              <a:spcAft>
                <a:spcPts val="400"/>
              </a:spcAft>
              <a:buFont typeface="Arial"/>
              <a:buChar char="▪"/>
            </a:pPr>
            <a:r>
              <a:rPr sz="1500" b="0" i="0">
                <a:solidFill>
                  <a:srgbClr val="1F2A24"/>
                </a:solidFill>
                <a:latin typeface="Calibri"/>
              </a:rPr>
              <a:t>approval_supplement.py — catches ChEMBL's per-indication phase lag so status is current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F2A24"/>
        </a:solidFill>
        <a:effectLst/>
      </p:bgPr>
    </p:bg>
    <p:spTree>
      <p:nvGrpSpPr>
        <p:cNvPr id="1" name=""/>
        <p:cNvGrpSpPr/>
        <p:nvPr/>
      </p:nvGrpSpPr>
      <p:grpSpPr/>
      <p:sp>
        <p:nvSpPr>
          <p:cNvPr id="2" name="TextBox 1"/>
          <p:cNvSpPr txBox="1"/>
          <p:nvPr/>
        </p:nvSpPr>
        <p:spPr>
          <a:xfrm>
            <a:off x="822960" y="2651760"/>
            <a:ext cx="1828800" cy="91440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6000" b="1" i="0">
                <a:solidFill>
                  <a:srgbClr val="B8860B"/>
                </a:solidFill>
                <a:latin typeface="Calibri"/>
              </a:rPr>
              <a:t>03</a:t>
            </a:r>
          </a:p>
        </p:txBody>
      </p:sp>
      <p:sp>
        <p:nvSpPr>
          <p:cNvPr id="3" name="TextBox 2"/>
          <p:cNvSpPr txBox="1"/>
          <p:nvPr/>
        </p:nvSpPr>
        <p:spPr>
          <a:xfrm>
            <a:off x="822960" y="3657600"/>
            <a:ext cx="10515600" cy="128016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3400" b="1" i="0">
                <a:solidFill>
                  <a:srgbClr val="FFFDF9"/>
                </a:solidFill>
                <a:latin typeface="Calibri"/>
              </a:rPr>
              <a:t>Calibration, Validation &amp; the Predictor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Score Calibration</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score_calibration.py + build_score_null.py</a:t>
            </a:r>
          </a:p>
        </p:txBody>
      </p:sp>
      <p:sp>
        <p:nvSpPr>
          <p:cNvPr id="5" name="TextBox 4"/>
          <p:cNvSpPr txBox="1"/>
          <p:nvPr/>
        </p:nvSpPr>
        <p:spPr>
          <a:xfrm>
            <a:off x="548640" y="1325880"/>
            <a:ext cx="110642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A raw composite is meaningless without a baseline — a novel lead legitimately scores low in absolute terms</a:t>
            </a:r>
          </a:p>
          <a:p>
            <a:pPr algn="l">
              <a:lnSpc>
                <a:spcPct val="105000"/>
              </a:lnSpc>
              <a:spcBef>
                <a:spcPts val="0"/>
              </a:spcBef>
              <a:spcAft>
                <a:spcPts val="400"/>
              </a:spcAft>
              <a:buFont typeface="Arial"/>
              <a:buChar char="▪"/>
            </a:pPr>
            <a:r>
              <a:rPr sz="1500" b="1" i="0">
                <a:solidFill>
                  <a:srgbClr val="1F2A24"/>
                </a:solidFill>
                <a:latin typeface="Calibri"/>
              </a:rPr>
              <a:t>build_score_null.py — scores RANDOM drug-disease pairs (from RepoDB names) → a null/background distribution</a:t>
            </a:r>
          </a:p>
          <a:p>
            <a:pPr algn="l">
              <a:lnSpc>
                <a:spcPct val="105000"/>
              </a:lnSpc>
              <a:spcBef>
                <a:spcPts val="0"/>
              </a:spcBef>
              <a:spcAft>
                <a:spcPts val="400"/>
              </a:spcAft>
              <a:buFont typeface="Arial"/>
              <a:buChar char="▪"/>
            </a:pPr>
            <a:r>
              <a:rPr sz="1500" b="1" i="0">
                <a:solidFill>
                  <a:srgbClr val="1F2A24"/>
                </a:solidFill>
                <a:latin typeface="Calibri"/>
              </a:rPr>
              <a:t>Reports ENRICHMENT — how many× above the random-pair median a pair scores (discriminating, honest)</a:t>
            </a:r>
          </a:p>
          <a:p>
            <a:pPr algn="l">
              <a:lnSpc>
                <a:spcPct val="105000"/>
              </a:lnSpc>
              <a:spcBef>
                <a:spcPts val="0"/>
              </a:spcBef>
              <a:spcAft>
                <a:spcPts val="400"/>
              </a:spcAft>
              <a:buFont typeface="Arial"/>
              <a:buChar char="▪"/>
            </a:pPr>
            <a:r>
              <a:rPr sz="1500" b="1" i="0">
                <a:solidFill>
                  <a:srgbClr val="1F2A24"/>
                </a:solidFill>
                <a:latin typeface="Calibri"/>
              </a:rPr>
              <a:t>Tier bands (Strong / Promising / Moderate / Weak) — currently from raw-score bands</a:t>
            </a:r>
          </a:p>
          <a:p>
            <a:pPr algn="l">
              <a:lnSpc>
                <a:spcPct val="105000"/>
              </a:lnSpc>
              <a:spcBef>
                <a:spcPts val="0"/>
              </a:spcBef>
              <a:spcAft>
                <a:spcPts val="400"/>
              </a:spcAft>
              <a:buFont typeface="Arial"/>
              <a:buChar char="▪"/>
            </a:pPr>
            <a:r>
              <a:rPr sz="1500" b="0" i="0">
                <a:solidFill>
                  <a:srgbClr val="1F2A24"/>
                </a:solidFill>
                <a:latin typeface="Calibri"/>
              </a:rPr>
              <a:t>Percentile saturates once signal separates from noise → we lead with enrichment, not percentile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The RepoDB Validation</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Does the score separate SUCCESS from FAILURE?</a:t>
            </a:r>
          </a:p>
        </p:txBody>
      </p:sp>
      <p:sp>
        <p:nvSpPr>
          <p:cNvPr id="5" name="TextBox 4"/>
          <p:cNvSpPr txBox="1"/>
          <p:nvPr/>
        </p:nvSpPr>
        <p:spPr>
          <a:xfrm>
            <a:off x="548640" y="1325880"/>
            <a:ext cx="110642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RepoDB = 13,558 labelled pairs (8,931 Approved / 4,627 Failed) — the outcome gold standard</a:t>
            </a:r>
          </a:p>
          <a:p>
            <a:pPr algn="l">
              <a:lnSpc>
                <a:spcPct val="105000"/>
              </a:lnSpc>
              <a:spcBef>
                <a:spcPts val="0"/>
              </a:spcBef>
              <a:spcAft>
                <a:spcPts val="400"/>
              </a:spcAft>
              <a:buFont typeface="Arial"/>
              <a:buChar char="▪"/>
            </a:pPr>
            <a:r>
              <a:rPr sz="1500" b="1" i="0">
                <a:solidFill>
                  <a:srgbClr val="1F2A24"/>
                </a:solidFill>
                <a:latin typeface="Calibri"/>
              </a:rPr>
              <a:t>repodb_validate.py — scored a stratified sample of Approved vs Failed with the hand-built composite</a:t>
            </a:r>
          </a:p>
          <a:p>
            <a:pPr algn="l">
              <a:lnSpc>
                <a:spcPct val="105000"/>
              </a:lnSpc>
              <a:spcBef>
                <a:spcPts val="0"/>
              </a:spcBef>
              <a:spcAft>
                <a:spcPts val="400"/>
              </a:spcAft>
              <a:buFont typeface="Arial"/>
              <a:buChar char="▪"/>
            </a:pPr>
            <a:r>
              <a:rPr sz="1500" b="1" i="0">
                <a:solidFill>
                  <a:srgbClr val="1F2A24"/>
                </a:solidFill>
                <a:latin typeface="Calibri"/>
              </a:rPr>
              <a:t>Result: composite AUC 0.41 (INVERTED — ranks failures above successes); mechanistic-only 0.54</a:t>
            </a:r>
          </a:p>
          <a:p>
            <a:pPr algn="l">
              <a:lnSpc>
                <a:spcPct val="105000"/>
              </a:lnSpc>
              <a:spcBef>
                <a:spcPts val="0"/>
              </a:spcBef>
              <a:spcAft>
                <a:spcPts val="400"/>
              </a:spcAft>
              <a:buFont typeface="Arial"/>
              <a:buChar char="▪"/>
            </a:pPr>
            <a:r>
              <a:rPr sz="1500" b="1" i="0">
                <a:solidFill>
                  <a:srgbClr val="1F2A24"/>
                </a:solidFill>
                <a:latin typeface="Calibri"/>
              </a:rPr>
              <a:t>Why: trial activity ≠ success — a Phase-3 FAILURE is a heavily-studied, well-connected pair</a:t>
            </a:r>
          </a:p>
          <a:p>
            <a:pPr algn="l">
              <a:lnSpc>
                <a:spcPct val="105000"/>
              </a:lnSpc>
              <a:spcBef>
                <a:spcPts val="0"/>
              </a:spcBef>
              <a:spcAft>
                <a:spcPts val="400"/>
              </a:spcAft>
              <a:buFont typeface="Arial"/>
              <a:buChar char="▪"/>
            </a:pPr>
            <a:r>
              <a:rPr sz="1500" b="0" i="0">
                <a:solidFill>
                  <a:srgbClr val="1F2A24"/>
                </a:solidFill>
                <a:latin typeface="Calibri"/>
              </a:rPr>
              <a:t>Honest finding: the hand-built score is NOT a validated success predictor — cutoffs from it are arbitrary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The DWPC Plausibility Predictor</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metapath_features.py + train_repurposing_predictor.py</a:t>
            </a:r>
          </a:p>
        </p:txBody>
      </p:sp>
      <p:sp>
        <p:nvSpPr>
          <p:cNvPr id="5" name="TextBox 4"/>
          <p:cNvSpPr txBox="1"/>
          <p:nvPr/>
        </p:nvSpPr>
        <p:spPr>
          <a:xfrm>
            <a:off x="548640" y="1325880"/>
            <a:ext cx="110642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Leakage-free DWPC / metapath features (Rephetio; Himmelstein 2017) — typed multi-hop paths, hub-damped</a:t>
            </a:r>
          </a:p>
          <a:p>
            <a:pPr algn="l">
              <a:lnSpc>
                <a:spcPct val="105000"/>
              </a:lnSpc>
              <a:spcBef>
                <a:spcPts val="0"/>
              </a:spcBef>
              <a:spcAft>
                <a:spcPts val="400"/>
              </a:spcAft>
              <a:buFont typeface="Arial"/>
              <a:buChar char="▪"/>
            </a:pPr>
            <a:r>
              <a:rPr sz="1500" b="1" i="0">
                <a:solidFill>
                  <a:srgbClr val="1F2A24"/>
                </a:solidFill>
                <a:latin typeface="Calibri"/>
              </a:rPr>
              <a:t>No metapath traverses the 'treats' edge → predicting treatment is leakage-free by construction</a:t>
            </a:r>
          </a:p>
          <a:p>
            <a:pPr algn="l">
              <a:lnSpc>
                <a:spcPct val="105000"/>
              </a:lnSpc>
              <a:spcBef>
                <a:spcPts val="0"/>
              </a:spcBef>
              <a:spcAft>
                <a:spcPts val="400"/>
              </a:spcAft>
              <a:buFont typeface="Arial"/>
              <a:buChar char="▪"/>
            </a:pPr>
            <a:r>
              <a:rPr sz="1500" b="1" i="0">
                <a:solidFill>
                  <a:srgbClr val="1F2A24"/>
                </a:solidFill>
                <a:latin typeface="Calibri"/>
              </a:rPr>
              <a:t>Trained a logistic model on the Hetionet gold standard (755 Compound-treats-Disease edges)</a:t>
            </a:r>
          </a:p>
          <a:p>
            <a:pPr algn="l">
              <a:lnSpc>
                <a:spcPct val="105000"/>
              </a:lnSpc>
              <a:spcBef>
                <a:spcPts val="0"/>
              </a:spcBef>
              <a:spcAft>
                <a:spcPts val="400"/>
              </a:spcAft>
              <a:buFont typeface="Arial"/>
              <a:buChar char="▪"/>
            </a:pPr>
            <a:r>
              <a:rPr sz="1500" b="1" i="0">
                <a:solidFill>
                  <a:srgbClr val="1F2A24"/>
                </a:solidFill>
                <a:latin typeface="Calibri"/>
              </a:rPr>
              <a:t>Held-out AUC 0.978 — and 0.978 COMPOUND-DISJOINT (generalises to drugs it never trained on)</a:t>
            </a:r>
          </a:p>
          <a:p>
            <a:pPr algn="l">
              <a:lnSpc>
                <a:spcPct val="105000"/>
              </a:lnSpc>
              <a:spcBef>
                <a:spcPts val="0"/>
              </a:spcBef>
              <a:spcAft>
                <a:spcPts val="400"/>
              </a:spcAft>
              <a:buFont typeface="Arial"/>
              <a:buChar char="▪"/>
            </a:pPr>
            <a:r>
              <a:rPr sz="1500" b="1" i="0">
                <a:solidFill>
                  <a:srgbClr val="1F2A24"/>
                </a:solidFill>
                <a:latin typeface="Calibri"/>
              </a:rPr>
              <a:t>Data-derived actionable cutoff: P(treats) ≥ 0.15 (Youden-optimal) — a real number, not a hand-set band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Plausibility ≠ Success — the honest scope</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repodb_external_validate.py + repurposing_predictor.py</a:t>
            </a:r>
          </a:p>
        </p:txBody>
      </p:sp>
      <p:sp>
        <p:nvSpPr>
          <p:cNvPr id="5" name="TextBox 4"/>
          <p:cNvSpPr txBox="1"/>
          <p:nvPr/>
        </p:nvSpPr>
        <p:spPr>
          <a:xfrm>
            <a:off x="548640" y="1325880"/>
            <a:ext cx="110642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External test: applied the AUC-0.98 predictor to RepoDB Approved-vs-Failed (hard, real failures)</a:t>
            </a:r>
          </a:p>
          <a:p>
            <a:pPr algn="l">
              <a:lnSpc>
                <a:spcPct val="105000"/>
              </a:lnSpc>
              <a:spcBef>
                <a:spcPts val="0"/>
              </a:spcBef>
              <a:spcAft>
                <a:spcPts val="400"/>
              </a:spcAft>
              <a:buFont typeface="Arial"/>
              <a:buChar char="▪"/>
            </a:pPr>
            <a:r>
              <a:rPr sz="1500" b="1" i="0">
                <a:solidFill>
                  <a:srgbClr val="1F2A24"/>
                </a:solidFill>
                <a:latin typeface="Calibri"/>
              </a:rPr>
              <a:t>Result: AUC 0.42 — it ranks plausibility above RANDOM, but NOT successes above failures</a:t>
            </a:r>
          </a:p>
          <a:p>
            <a:pPr algn="l">
              <a:lnSpc>
                <a:spcPct val="105000"/>
              </a:lnSpc>
              <a:spcBef>
                <a:spcPts val="0"/>
              </a:spcBef>
              <a:spcAft>
                <a:spcPts val="400"/>
              </a:spcAft>
              <a:buFont typeface="Arial"/>
              <a:buChar char="▪"/>
            </a:pPr>
            <a:r>
              <a:rPr sz="1500" b="1" i="0">
                <a:solidFill>
                  <a:srgbClr val="1F2A24"/>
                </a:solidFill>
                <a:latin typeface="Calibri"/>
              </a:rPr>
              <a:t>Fundamental ceiling: efficacy / safety / PK are not in any knowledge graph — both classes are 'plausible'</a:t>
            </a:r>
          </a:p>
          <a:p>
            <a:pPr algn="l">
              <a:lnSpc>
                <a:spcPct val="105000"/>
              </a:lnSpc>
              <a:spcBef>
                <a:spcPts val="0"/>
              </a:spcBef>
              <a:spcAft>
                <a:spcPts val="400"/>
              </a:spcAft>
              <a:buFont typeface="Arial"/>
              <a:buChar char="▪"/>
            </a:pPr>
            <a:r>
              <a:rPr sz="1500" b="1" i="0">
                <a:solidFill>
                  <a:srgbClr val="1F2A24"/>
                </a:solidFill>
                <a:latin typeface="Calibri"/>
              </a:rPr>
              <a:t>So we ship it HONESTLY: a mechanistic-PLAUSIBILITY / triage score, explicitly NOT a success probability</a:t>
            </a:r>
          </a:p>
          <a:p>
            <a:pPr algn="l">
              <a:lnSpc>
                <a:spcPct val="105000"/>
              </a:lnSpc>
              <a:spcBef>
                <a:spcPts val="0"/>
              </a:spcBef>
              <a:spcAft>
                <a:spcPts val="400"/>
              </a:spcAft>
              <a:buFont typeface="Arial"/>
              <a:buChar char="▪"/>
            </a:pPr>
            <a:r>
              <a:rPr sz="1500" b="1" i="0">
                <a:solidFill>
                  <a:srgbClr val="1F2A24"/>
                </a:solidFill>
                <a:latin typeface="Calibri"/>
              </a:rPr>
              <a:t>repurposing_predictor.py serves P(treats) where the pair maps into Hetionet; fail-soft otherwise</a:t>
            </a:r>
          </a:p>
          <a:p>
            <a:pPr algn="l">
              <a:lnSpc>
                <a:spcPct val="105000"/>
              </a:lnSpc>
              <a:spcBef>
                <a:spcPts val="0"/>
              </a:spcBef>
              <a:spcAft>
                <a:spcPts val="400"/>
              </a:spcAft>
              <a:buFont typeface="Arial"/>
              <a:buChar char="▪"/>
            </a:pPr>
            <a:r>
              <a:rPr sz="1500" b="0" i="0">
                <a:solidFill>
                  <a:srgbClr val="1F2A24"/>
                </a:solidFill>
                <a:latin typeface="Calibri"/>
              </a:rPr>
              <a:t>UI badge shows BOTH AUCs (0.98 vs random, 0.42 vs failures) — it can never be mistaken for an oracle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Probability-of-Success (PoS) Model</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pos_model.py + train_pos_model.py</a:t>
            </a:r>
          </a:p>
        </p:txBody>
      </p:sp>
      <p:sp>
        <p:nvSpPr>
          <p:cNvPr id="5" name="TextBox 4"/>
          <p:cNvSpPr txBox="1"/>
          <p:nvPr/>
        </p:nvSpPr>
        <p:spPr>
          <a:xfrm>
            <a:off x="548640" y="1325880"/>
            <a:ext cx="110642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Analytic phase-transition model: likelihood of progressing through each remaining clinical phase</a:t>
            </a:r>
          </a:p>
          <a:p>
            <a:pPr algn="l">
              <a:lnSpc>
                <a:spcPct val="105000"/>
              </a:lnSpc>
              <a:spcBef>
                <a:spcPts val="0"/>
              </a:spcBef>
              <a:spcAft>
                <a:spcPts val="400"/>
              </a:spcAft>
              <a:buFont typeface="Arial"/>
              <a:buChar char="▪"/>
            </a:pPr>
            <a:r>
              <a:rPr sz="1500" b="1" i="0">
                <a:solidFill>
                  <a:srgbClr val="1F2A24"/>
                </a:solidFill>
                <a:latin typeface="Calibri"/>
              </a:rPr>
              <a:t>Repurposing-aware: an approved molecule entering a new indication has Phase-1 safety largely de-risked</a:t>
            </a:r>
          </a:p>
          <a:p>
            <a:pPr algn="l">
              <a:lnSpc>
                <a:spcPct val="105000"/>
              </a:lnSpc>
              <a:spcBef>
                <a:spcPts val="0"/>
              </a:spcBef>
              <a:spcAft>
                <a:spcPts val="400"/>
              </a:spcAft>
              <a:buFont typeface="Arial"/>
              <a:buChar char="▪"/>
            </a:pPr>
            <a:r>
              <a:rPr sz="1500" b="1" i="0">
                <a:solidFill>
                  <a:srgbClr val="1F2A24"/>
                </a:solidFill>
                <a:latin typeface="Calibri"/>
              </a:rPr>
              <a:t>Optional fitted calibrator (biological-profile features) — blended 50/50 ONLY when trustworthy</a:t>
            </a:r>
          </a:p>
          <a:p>
            <a:pPr algn="l">
              <a:lnSpc>
                <a:spcPct val="105000"/>
              </a:lnSpc>
              <a:spcBef>
                <a:spcPts val="0"/>
              </a:spcBef>
              <a:spcAft>
                <a:spcPts val="400"/>
              </a:spcAft>
              <a:buFont typeface="Arial"/>
              <a:buChar char="▪"/>
            </a:pPr>
            <a:r>
              <a:rPr sz="1500" b="1" i="0">
                <a:solidFill>
                  <a:srgbClr val="1F2A24"/>
                </a:solidFill>
                <a:latin typeface="Calibri"/>
              </a:rPr>
              <a:t>Leakage guard: refuses to certify a calibrator whose AUC is implausibly high (reverse-causation)</a:t>
            </a:r>
          </a:p>
          <a:p>
            <a:pPr algn="l">
              <a:lnSpc>
                <a:spcPct val="105000"/>
              </a:lnSpc>
              <a:spcBef>
                <a:spcPts val="0"/>
              </a:spcBef>
              <a:spcAft>
                <a:spcPts val="400"/>
              </a:spcAft>
              <a:buFont typeface="Arial"/>
              <a:buChar char="▪"/>
            </a:pPr>
            <a:r>
              <a:rPr sz="1500" b="0" i="0">
                <a:solidFill>
                  <a:srgbClr val="1F2A24"/>
                </a:solidFill>
                <a:latin typeface="Calibri"/>
              </a:rPr>
              <a:t>Shown per candidate as the asset-scoring 'probability of success' on the 505(b)(2) dossier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Knowledge Graph</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biocypher_graph.py + kg_embedding.py + kg_score.py</a:t>
            </a:r>
          </a:p>
        </p:txBody>
      </p:sp>
      <p:sp>
        <p:nvSpPr>
          <p:cNvPr id="5" name="TextBox 4"/>
          <p:cNvSpPr txBox="1"/>
          <p:nvPr/>
        </p:nvSpPr>
        <p:spPr>
          <a:xfrm>
            <a:off x="548640" y="1325880"/>
            <a:ext cx="110642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biocypher_graph.py — assembles the story graph: the evidence chain behind a hypothesis (drug→gene→pathway→disease)</a:t>
            </a:r>
          </a:p>
          <a:p>
            <a:pPr algn="l">
              <a:lnSpc>
                <a:spcPct val="105000"/>
              </a:lnSpc>
              <a:spcBef>
                <a:spcPts val="0"/>
              </a:spcBef>
              <a:spcAft>
                <a:spcPts val="400"/>
              </a:spcAft>
              <a:buFont typeface="Arial"/>
              <a:buChar char="▪"/>
            </a:pPr>
            <a:r>
              <a:rPr sz="1500" b="1" i="0">
                <a:solidFill>
                  <a:srgbClr val="1F2A24"/>
                </a:solidFill>
                <a:latin typeface="Calibri"/>
              </a:rPr>
              <a:t>Hetionet v1.0 in the database — the curated, typed biomedical graph (nodes + metaedges)</a:t>
            </a:r>
          </a:p>
          <a:p>
            <a:pPr algn="l">
              <a:lnSpc>
                <a:spcPct val="105000"/>
              </a:lnSpc>
              <a:spcBef>
                <a:spcPts val="0"/>
              </a:spcBef>
              <a:spcAft>
                <a:spcPts val="400"/>
              </a:spcAft>
              <a:buFont typeface="Arial"/>
              <a:buChar char="▪"/>
            </a:pPr>
            <a:r>
              <a:rPr sz="1500" b="1" i="0">
                <a:solidFill>
                  <a:srgbClr val="1F2A24"/>
                </a:solidFill>
                <a:latin typeface="Calibri"/>
              </a:rPr>
              <a:t>kg_embedding.py — DistMult knowledge-graph embeddings for link prediction (data/kg_embeddings.npz)</a:t>
            </a:r>
          </a:p>
          <a:p>
            <a:pPr algn="l">
              <a:lnSpc>
                <a:spcPct val="105000"/>
              </a:lnSpc>
              <a:spcBef>
                <a:spcPts val="0"/>
              </a:spcBef>
              <a:spcAft>
                <a:spcPts val="400"/>
              </a:spcAft>
              <a:buFont typeface="Arial"/>
              <a:buChar char="▪"/>
            </a:pPr>
            <a:r>
              <a:rPr sz="1500" b="1" i="0">
                <a:solidFill>
                  <a:srgbClr val="1F2A24"/>
                </a:solidFill>
                <a:latin typeface="Calibri"/>
              </a:rPr>
              <a:t>kg_score.py — embedding-based repurposing score + Hetionet crosswalk</a:t>
            </a:r>
          </a:p>
          <a:p>
            <a:pPr algn="l">
              <a:lnSpc>
                <a:spcPct val="105000"/>
              </a:lnSpc>
              <a:spcBef>
                <a:spcPts val="0"/>
              </a:spcBef>
              <a:spcAft>
                <a:spcPts val="400"/>
              </a:spcAft>
              <a:buFont typeface="Arial"/>
              <a:buChar char="▪"/>
            </a:pPr>
            <a:r>
              <a:rPr sz="1500" b="0" i="0">
                <a:solidFill>
                  <a:srgbClr val="1F2A24"/>
                </a:solidFill>
                <a:latin typeface="Calibri"/>
              </a:rPr>
              <a:t>Knowledge Graph page (/graph) — interactive evidence-chain visualisation, molecule- and disease-aware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F2A24"/>
        </a:solidFill>
        <a:effectLst/>
      </p:bgPr>
    </p:bg>
    <p:spTree>
      <p:nvGrpSpPr>
        <p:cNvPr id="1" name=""/>
        <p:cNvGrpSpPr/>
        <p:nvPr/>
      </p:nvGrpSpPr>
      <p:grpSpPr/>
      <p:sp>
        <p:nvSpPr>
          <p:cNvPr id="2" name="TextBox 1"/>
          <p:cNvSpPr txBox="1"/>
          <p:nvPr/>
        </p:nvSpPr>
        <p:spPr>
          <a:xfrm>
            <a:off x="822960" y="2651760"/>
            <a:ext cx="1828800" cy="91440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6000" b="1" i="0">
                <a:solidFill>
                  <a:srgbClr val="B8860B"/>
                </a:solidFill>
                <a:latin typeface="Calibri"/>
              </a:rPr>
              <a:t>04</a:t>
            </a:r>
          </a:p>
        </p:txBody>
      </p:sp>
      <p:sp>
        <p:nvSpPr>
          <p:cNvPr id="3" name="TextBox 2"/>
          <p:cNvSpPr txBox="1"/>
          <p:nvPr/>
        </p:nvSpPr>
        <p:spPr>
          <a:xfrm>
            <a:off x="822960" y="3657600"/>
            <a:ext cx="10515600" cy="128016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3400" b="1" i="0">
                <a:solidFill>
                  <a:srgbClr val="FFFDF9"/>
                </a:solidFill>
                <a:latin typeface="Calibri"/>
              </a:rPr>
              <a:t>Structure, Chemistry &amp; Pharmacokinetics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Molecular Docking — Architecture</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docking_service.py — a priority chain</a:t>
            </a:r>
          </a:p>
        </p:txBody>
      </p:sp>
      <p:sp>
        <p:nvSpPr>
          <p:cNvPr id="5" name="TextBox 4"/>
          <p:cNvSpPr txBox="1"/>
          <p:nvPr/>
        </p:nvSpPr>
        <p:spPr>
          <a:xfrm>
            <a:off x="548640" y="1325880"/>
            <a:ext cx="110642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Priority chain: real AutoDock Vina (default) → optional DiffDock / Boltz-2 → physics fallback → descriptor estimate</a:t>
            </a:r>
          </a:p>
          <a:p>
            <a:pPr algn="l">
              <a:lnSpc>
                <a:spcPct val="105000"/>
              </a:lnSpc>
              <a:spcBef>
                <a:spcPts val="0"/>
              </a:spcBef>
              <a:spcAft>
                <a:spcPts val="400"/>
              </a:spcAft>
              <a:buFont typeface="Arial"/>
              <a:buChar char="▪"/>
            </a:pPr>
            <a:r>
              <a:rPr sz="1500" b="1" i="0">
                <a:solidFill>
                  <a:srgbClr val="1F2A24"/>
                </a:solidFill>
                <a:latin typeface="Calibri"/>
              </a:rPr>
              <a:t>real_pdb_fetcher.py — gene → UniProt identity → best RCSB structure (prefers HOLO) → else AlphaFold (pLDDT-filtered)</a:t>
            </a:r>
          </a:p>
          <a:p>
            <a:pPr algn="l">
              <a:lnSpc>
                <a:spcPct val="105000"/>
              </a:lnSpc>
              <a:spcBef>
                <a:spcPts val="0"/>
              </a:spcBef>
              <a:spcAft>
                <a:spcPts val="400"/>
              </a:spcAft>
              <a:buFont typeface="Arial"/>
              <a:buChar char="▪"/>
            </a:pPr>
            <a:r>
              <a:rPr sz="1500" b="1" i="0">
                <a:solidFill>
                  <a:srgbClr val="1F2A24"/>
                </a:solidFill>
                <a:latin typeface="Calibri"/>
              </a:rPr>
              <a:t>pocket_finder.py — detects, ranks and NAMES binding pockets; prefers the co-crystal (functional) site</a:t>
            </a:r>
          </a:p>
          <a:p>
            <a:pPr algn="l">
              <a:lnSpc>
                <a:spcPct val="105000"/>
              </a:lnSpc>
              <a:spcBef>
                <a:spcPts val="0"/>
              </a:spcBef>
              <a:spcAft>
                <a:spcPts val="400"/>
              </a:spcAft>
              <a:buFont typeface="Arial"/>
              <a:buChar char="▪"/>
            </a:pPr>
            <a:r>
              <a:rPr sz="1500" b="1" i="0">
                <a:solidFill>
                  <a:srgbClr val="1F2A24"/>
                </a:solidFill>
                <a:latin typeface="Calibri"/>
              </a:rPr>
              <a:t>Pose validation — clash + pocket-containment checks; drops floating/clashing poses</a:t>
            </a:r>
          </a:p>
          <a:p>
            <a:pPr algn="l">
              <a:lnSpc>
                <a:spcPct val="105000"/>
              </a:lnSpc>
              <a:spcBef>
                <a:spcPts val="0"/>
              </a:spcBef>
              <a:spcAft>
                <a:spcPts val="400"/>
              </a:spcAft>
              <a:buFont typeface="Arial"/>
              <a:buChar char="▪"/>
            </a:pPr>
            <a:r>
              <a:rPr sz="1500" b="0" i="0">
                <a:solidFill>
                  <a:srgbClr val="1F2A24"/>
                </a:solidFill>
                <a:latin typeface="Calibri"/>
              </a:rPr>
              <a:t>Honest 'no structure' path — never dresses a placeholder peptide up as a real docking result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Real AutoDock Vina — Native Windows</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vina_engine.py + vendor/vina_worker.py</a:t>
            </a:r>
          </a:p>
        </p:txBody>
      </p:sp>
      <p:sp>
        <p:nvSpPr>
          <p:cNvPr id="5" name="TextBox 4"/>
          <p:cNvSpPr txBox="1"/>
          <p:nvPr/>
        </p:nvSpPr>
        <p:spPr>
          <a:xfrm>
            <a:off x="548640" y="1325880"/>
            <a:ext cx="110642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Replaced the in-house 'Vina-style' approximation with REAL AutoDock Vina 1.2.7</a:t>
            </a:r>
          </a:p>
          <a:p>
            <a:pPr algn="l">
              <a:lnSpc>
                <a:spcPct val="105000"/>
              </a:lnSpc>
              <a:spcBef>
                <a:spcPts val="0"/>
              </a:spcBef>
              <a:spcAft>
                <a:spcPts val="400"/>
              </a:spcAft>
              <a:buFont typeface="Arial"/>
              <a:buChar char="▪"/>
            </a:pPr>
            <a:r>
              <a:rPr sz="1500" b="1" i="0">
                <a:solidFill>
                  <a:srgbClr val="1F2A24"/>
                </a:solidFill>
                <a:latin typeface="Calibri"/>
              </a:rPr>
              <a:t>Windows reality: conda vina/fpocket have no win-64 build → use the official Vina Windows CLI binary</a:t>
            </a:r>
          </a:p>
          <a:p>
            <a:pPr algn="l">
              <a:lnSpc>
                <a:spcPct val="105000"/>
              </a:lnSpc>
              <a:spcBef>
                <a:spcPts val="0"/>
              </a:spcBef>
              <a:spcAft>
                <a:spcPts val="400"/>
              </a:spcAft>
              <a:buFont typeface="Arial"/>
              <a:buChar char="▪"/>
            </a:pPr>
            <a:r>
              <a:rPr sz="1500" b="1" i="0">
                <a:solidFill>
                  <a:srgbClr val="1F2A24"/>
                </a:solidFill>
                <a:latin typeface="Calibri"/>
              </a:rPr>
              <a:t>Worker chain (drugdisc-agent env): Meeko ligand PDBQT → pdbfixer + OpenBabel receptor → box on the co-crystal site → Vina</a:t>
            </a:r>
          </a:p>
          <a:p>
            <a:pPr algn="l">
              <a:lnSpc>
                <a:spcPct val="105000"/>
              </a:lnSpc>
              <a:spcBef>
                <a:spcPts val="0"/>
              </a:spcBef>
              <a:spcAft>
                <a:spcPts val="400"/>
              </a:spcAft>
              <a:buFont typeface="Arial"/>
              <a:buChar char="▪"/>
            </a:pPr>
            <a:r>
              <a:rPr sz="1500" b="1" i="0">
                <a:solidFill>
                  <a:srgbClr val="1F2A24"/>
                </a:solidFill>
                <a:latin typeface="Calibri"/>
              </a:rPr>
              <a:t>App shells out to the worker; poses returned as SDF + real ΔG (kcal/mol); fail-soft to the physics engine</a:t>
            </a:r>
          </a:p>
          <a:p>
            <a:pPr algn="l">
              <a:lnSpc>
                <a:spcPct val="105000"/>
              </a:lnSpc>
              <a:spcBef>
                <a:spcPts val="0"/>
              </a:spcBef>
              <a:spcAft>
                <a:spcPts val="400"/>
              </a:spcAft>
              <a:buFont typeface="Arial"/>
              <a:buChar char="▪"/>
            </a:pPr>
            <a:r>
              <a:rPr sz="1500" b="1" i="0">
                <a:solidFill>
                  <a:srgbClr val="1F2A24"/>
                </a:solidFill>
                <a:latin typeface="Calibri"/>
              </a:rPr>
              <a:t>VALIDATED: imatinib redocked into 1IEP = −12.6 kcal/mol, 0.24 Å from the crystal ligand; EGFR/erlotinib −8.65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Structure Modelling Options</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pocket_finder.py + boltz_engine.py + dock_engine.py</a:t>
            </a:r>
          </a:p>
        </p:txBody>
      </p:sp>
      <p:sp>
        <p:nvSpPr>
          <p:cNvPr id="5" name="TextBox 4"/>
          <p:cNvSpPr txBox="1"/>
          <p:nvPr/>
        </p:nvSpPr>
        <p:spPr>
          <a:xfrm>
            <a:off x="548640" y="1325880"/>
            <a:ext cx="110642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boltz_engine.py — Boltz-2: structure + BINDING-AFFINITY prediction (opt-in; GPU/weights) for a predicted ΔG</a:t>
            </a:r>
          </a:p>
          <a:p>
            <a:pPr algn="l">
              <a:lnSpc>
                <a:spcPct val="105000"/>
              </a:lnSpc>
              <a:spcBef>
                <a:spcPts val="0"/>
              </a:spcBef>
              <a:spcAft>
                <a:spcPts val="400"/>
              </a:spcAft>
              <a:buFont typeface="Arial"/>
              <a:buChar char="▪"/>
            </a:pPr>
            <a:r>
              <a:rPr sz="1500" b="1" i="0">
                <a:solidFill>
                  <a:srgbClr val="1F2A24"/>
                </a:solidFill>
                <a:latin typeface="Calibri"/>
              </a:rPr>
              <a:t>dock_engine.py — the always-available physics fallback: RDKit conformers + Monte-Carlo pose + Vina-style scoring</a:t>
            </a:r>
          </a:p>
          <a:p>
            <a:pPr algn="l">
              <a:lnSpc>
                <a:spcPct val="105000"/>
              </a:lnSpc>
              <a:spcBef>
                <a:spcPts val="0"/>
              </a:spcBef>
              <a:spcAft>
                <a:spcPts val="400"/>
              </a:spcAft>
              <a:buFont typeface="Arial"/>
              <a:buChar char="▪"/>
            </a:pPr>
            <a:r>
              <a:rPr sz="1500" b="1" i="0">
                <a:solidFill>
                  <a:srgbClr val="1F2A24"/>
                </a:solidFill>
                <a:latin typeface="Calibri"/>
              </a:rPr>
              <a:t>Consensus: externally-generated poses (DiffDock/Vina) re-scored by the empirical function as an independent check</a:t>
            </a:r>
          </a:p>
          <a:p>
            <a:pPr algn="l">
              <a:lnSpc>
                <a:spcPct val="105000"/>
              </a:lnSpc>
              <a:spcBef>
                <a:spcPts val="0"/>
              </a:spcBef>
              <a:spcAft>
                <a:spcPts val="400"/>
              </a:spcAft>
              <a:buFont typeface="Arial"/>
              <a:buChar char="▪"/>
            </a:pPr>
            <a:r>
              <a:rPr sz="1500" b="0" i="0">
                <a:solidFill>
                  <a:srgbClr val="1F2A24"/>
                </a:solidFill>
                <a:latin typeface="Calibri"/>
              </a:rPr>
              <a:t>AtomisticSkills recipes (vendored) — protein-prep, ligand-prep, binding-site, redocking-RMSD skills</a:t>
            </a:r>
          </a:p>
          <a:p>
            <a:pPr algn="l">
              <a:lnSpc>
                <a:spcPct val="105000"/>
              </a:lnSpc>
              <a:spcBef>
                <a:spcPts val="0"/>
              </a:spcBef>
              <a:spcAft>
                <a:spcPts val="400"/>
              </a:spcAft>
              <a:buFont typeface="Arial"/>
              <a:buChar char="▪"/>
            </a:pPr>
            <a:r>
              <a:rPr sz="1500" b="0" i="0">
                <a:solidFill>
                  <a:srgbClr val="1F2A24"/>
                </a:solidFill>
                <a:latin typeface="Calibri"/>
              </a:rPr>
              <a:t>DiffDock (opt-in) — deep-learning blind docking when the user wants it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Quantum Chemistry Engine</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qc_engine.py — GFN2-xTB</a:t>
            </a:r>
          </a:p>
        </p:txBody>
      </p:sp>
      <p:sp>
        <p:nvSpPr>
          <p:cNvPr id="5" name="TextBox 4"/>
          <p:cNvSpPr txBox="1"/>
          <p:nvPr/>
        </p:nvSpPr>
        <p:spPr>
          <a:xfrm>
            <a:off x="548640" y="1325880"/>
            <a:ext cx="110642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REAL semi-empirical quantum chemistry (GFN2-xTB) via a dedicated micromamba env at .qc/</a:t>
            </a:r>
          </a:p>
          <a:p>
            <a:pPr algn="l">
              <a:lnSpc>
                <a:spcPct val="105000"/>
              </a:lnSpc>
              <a:spcBef>
                <a:spcPts val="0"/>
              </a:spcBef>
              <a:spcAft>
                <a:spcPts val="400"/>
              </a:spcAft>
              <a:buFont typeface="Arial"/>
              <a:buChar char="▪"/>
            </a:pPr>
            <a:r>
              <a:rPr sz="1500" b="1" i="0">
                <a:solidFill>
                  <a:srgbClr val="1F2A24"/>
                </a:solidFill>
                <a:latin typeface="Calibri"/>
              </a:rPr>
              <a:t>Geometry optimization + electronic properties: HOMO/LUMO gap, dipole, solvation ΔG (implicit water)</a:t>
            </a:r>
          </a:p>
          <a:p>
            <a:pPr algn="l">
              <a:lnSpc>
                <a:spcPct val="105000"/>
              </a:lnSpc>
              <a:spcBef>
                <a:spcPts val="0"/>
              </a:spcBef>
              <a:spcAft>
                <a:spcPts val="400"/>
              </a:spcAft>
              <a:buFont typeface="Arial"/>
              <a:buChar char="▪"/>
            </a:pPr>
            <a:r>
              <a:rPr sz="1500" b="1" i="0">
                <a:solidFill>
                  <a:srgbClr val="1F2A24"/>
                </a:solidFill>
                <a:latin typeface="Calibri"/>
              </a:rPr>
              <a:t>Surfaces on the Analysis page 'Optimization' tab — molecular-level physical descriptors</a:t>
            </a:r>
          </a:p>
          <a:p>
            <a:pPr algn="l">
              <a:lnSpc>
                <a:spcPct val="105000"/>
              </a:lnSpc>
              <a:spcBef>
                <a:spcPts val="0"/>
              </a:spcBef>
              <a:spcAft>
                <a:spcPts val="400"/>
              </a:spcAft>
              <a:buFont typeface="Arial"/>
              <a:buChar char="▪"/>
            </a:pPr>
            <a:r>
              <a:rPr sz="1500" b="0" i="0">
                <a:solidFill>
                  <a:srgbClr val="1F2A24"/>
                </a:solidFill>
                <a:latin typeface="Calibri"/>
              </a:rPr>
              <a:t>Isolated env → the app never imports the QM stack; results returned as structured JSON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PBPK Pharmacokinetics</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pbpk_simulation.py</a:t>
            </a:r>
          </a:p>
        </p:txBody>
      </p:sp>
      <p:sp>
        <p:nvSpPr>
          <p:cNvPr id="5" name="TextBox 4"/>
          <p:cNvSpPr txBox="1"/>
          <p:nvPr/>
        </p:nvSpPr>
        <p:spPr>
          <a:xfrm>
            <a:off x="548640" y="1325880"/>
            <a:ext cx="110642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Real perfusion-limited PBPK model — a system of ODEs solved with scipy LSODA</a:t>
            </a:r>
          </a:p>
          <a:p>
            <a:pPr algn="l">
              <a:lnSpc>
                <a:spcPct val="105000"/>
              </a:lnSpc>
              <a:spcBef>
                <a:spcPts val="0"/>
              </a:spcBef>
              <a:spcAft>
                <a:spcPts val="400"/>
              </a:spcAft>
              <a:buFont typeface="Arial"/>
              <a:buChar char="▪"/>
            </a:pPr>
            <a:r>
              <a:rPr sz="1500" b="1" i="0">
                <a:solidFill>
                  <a:srgbClr val="1F2A24"/>
                </a:solidFill>
                <a:latin typeface="Calibri"/>
              </a:rPr>
              <a:t>Predicts tissue/plasma concentration-time profiles from dose, physiology and drug properties</a:t>
            </a:r>
          </a:p>
          <a:p>
            <a:pPr algn="l">
              <a:lnSpc>
                <a:spcPct val="105000"/>
              </a:lnSpc>
              <a:spcBef>
                <a:spcPts val="0"/>
              </a:spcBef>
              <a:spcAft>
                <a:spcPts val="400"/>
              </a:spcAft>
              <a:buFont typeface="Arial"/>
              <a:buChar char="▪"/>
            </a:pPr>
            <a:r>
              <a:rPr sz="1500" b="1" i="0">
                <a:solidFill>
                  <a:srgbClr val="1F2A24"/>
                </a:solidFill>
                <a:latin typeface="Calibri"/>
              </a:rPr>
              <a:t>Free-drug target occupancy vs a MEASURED ChEMBL Ki — connects PK to pharmacology</a:t>
            </a:r>
          </a:p>
          <a:p>
            <a:pPr algn="l">
              <a:lnSpc>
                <a:spcPct val="105000"/>
              </a:lnSpc>
              <a:spcBef>
                <a:spcPts val="0"/>
              </a:spcBef>
              <a:spcAft>
                <a:spcPts val="400"/>
              </a:spcAft>
              <a:buFont typeface="Arial"/>
              <a:buChar char="▪"/>
            </a:pPr>
            <a:r>
              <a:rPr sz="1500" b="0" i="0">
                <a:solidFill>
                  <a:srgbClr val="1F2A24"/>
                </a:solidFill>
                <a:latin typeface="Calibri"/>
              </a:rPr>
              <a:t>Answers: does a repurposing dose actually reach and engage the target at the disease site?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Developability &amp; CNS Exposure</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developability.py + cns_mpo.py</a:t>
            </a:r>
          </a:p>
        </p:txBody>
      </p:sp>
      <p:sp>
        <p:nvSpPr>
          <p:cNvPr id="5" name="TextBox 4"/>
          <p:cNvSpPr txBox="1"/>
          <p:nvPr/>
        </p:nvSpPr>
        <p:spPr>
          <a:xfrm>
            <a:off x="548640" y="1325880"/>
            <a:ext cx="110642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developability.py — area-aware drug-likeness: oral (Lipinski + Veber), CNS (BBB), ophthalmic (corneal)</a:t>
            </a:r>
          </a:p>
          <a:p>
            <a:pPr algn="l">
              <a:lnSpc>
                <a:spcPct val="105000"/>
              </a:lnSpc>
              <a:spcBef>
                <a:spcPts val="0"/>
              </a:spcBef>
              <a:spcAft>
                <a:spcPts val="400"/>
              </a:spcAft>
              <a:buFont typeface="Arial"/>
              <a:buChar char="▪"/>
            </a:pPr>
            <a:r>
              <a:rPr sz="1500" b="1" i="0">
                <a:solidFill>
                  <a:srgbClr val="1F2A24"/>
                </a:solidFill>
                <a:latin typeface="Calibri"/>
              </a:rPr>
              <a:t>Scores a molecule against the RIGHT rule set for the searched disease's route of administration</a:t>
            </a:r>
          </a:p>
          <a:p>
            <a:pPr algn="l">
              <a:lnSpc>
                <a:spcPct val="105000"/>
              </a:lnSpc>
              <a:spcBef>
                <a:spcPts val="0"/>
              </a:spcBef>
              <a:spcAft>
                <a:spcPts val="400"/>
              </a:spcAft>
              <a:buFont typeface="Arial"/>
              <a:buChar char="▪"/>
            </a:pPr>
            <a:r>
              <a:rPr sz="1500" b="1" i="0">
                <a:solidFill>
                  <a:srgbClr val="1F2A24"/>
                </a:solidFill>
                <a:latin typeface="Calibri"/>
              </a:rPr>
              <a:t>cns_mpo.py — CNS-MPO (Wager 2010) multiparameter score for brain penetration (0–6)</a:t>
            </a:r>
          </a:p>
          <a:p>
            <a:pPr algn="l">
              <a:lnSpc>
                <a:spcPct val="105000"/>
              </a:lnSpc>
              <a:spcBef>
                <a:spcPts val="0"/>
              </a:spcBef>
              <a:spcAft>
                <a:spcPts val="400"/>
              </a:spcAft>
              <a:buFont typeface="Arial"/>
              <a:buChar char="▪"/>
            </a:pPr>
            <a:r>
              <a:rPr sz="1500" b="0" i="0">
                <a:solidFill>
                  <a:srgbClr val="1F2A24"/>
                </a:solidFill>
                <a:latin typeface="Calibri"/>
              </a:rPr>
              <a:t>Feeds a BBB-risk flag on CNS indications and the CCH tissue-barrier factor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F2A24"/>
        </a:solidFill>
        <a:effectLst/>
      </p:bgPr>
    </p:bg>
    <p:spTree>
      <p:nvGrpSpPr>
        <p:cNvPr id="1" name=""/>
        <p:cNvGrpSpPr/>
        <p:nvPr/>
      </p:nvGrpSpPr>
      <p:grpSpPr/>
      <p:sp>
        <p:nvSpPr>
          <p:cNvPr id="2" name="TextBox 1"/>
          <p:cNvSpPr txBox="1"/>
          <p:nvPr/>
        </p:nvSpPr>
        <p:spPr>
          <a:xfrm>
            <a:off x="822960" y="2651760"/>
            <a:ext cx="1828800" cy="91440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6000" b="1" i="0">
                <a:solidFill>
                  <a:srgbClr val="B8860B"/>
                </a:solidFill>
                <a:latin typeface="Calibri"/>
              </a:rPr>
              <a:t>05</a:t>
            </a:r>
          </a:p>
        </p:txBody>
      </p:sp>
      <p:sp>
        <p:nvSpPr>
          <p:cNvPr id="3" name="TextBox 2"/>
          <p:cNvSpPr txBox="1"/>
          <p:nvPr/>
        </p:nvSpPr>
        <p:spPr>
          <a:xfrm>
            <a:off x="822960" y="3657600"/>
            <a:ext cx="10515600" cy="128016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3400" b="1" i="0">
                <a:solidFill>
                  <a:srgbClr val="FFFDF9"/>
                </a:solidFill>
                <a:latin typeface="Calibri"/>
              </a:rPr>
              <a:t>Decision Context, Regulatory &amp; Delivery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Evidence Dossier &amp; Regulatory Verdict</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evidence_dossier.py + regulatory_verdict.py</a:t>
            </a:r>
          </a:p>
        </p:txBody>
      </p:sp>
      <p:sp>
        <p:nvSpPr>
          <p:cNvPr id="5" name="TextBox 4"/>
          <p:cNvSpPr txBox="1"/>
          <p:nvPr/>
        </p:nvSpPr>
        <p:spPr>
          <a:xfrm>
            <a:off x="548640" y="1325880"/>
            <a:ext cx="110642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evidence_dossier.py — assembles the per-candidate 505(b)(2) dossier: evidence chain, scores, PoS, structure, PK</a:t>
            </a:r>
          </a:p>
          <a:p>
            <a:pPr algn="l">
              <a:lnSpc>
                <a:spcPct val="105000"/>
              </a:lnSpc>
              <a:spcBef>
                <a:spcPts val="0"/>
              </a:spcBef>
              <a:spcAft>
                <a:spcPts val="400"/>
              </a:spcAft>
              <a:buFont typeface="Arial"/>
              <a:buChar char="▪"/>
            </a:pPr>
            <a:r>
              <a:rPr sz="1500" b="1" i="0">
                <a:solidFill>
                  <a:srgbClr val="1F2A24"/>
                </a:solidFill>
                <a:latin typeface="Calibri"/>
              </a:rPr>
              <a:t>regulatory_verdict.py — single source of truth for novelty + regulatory status (phase-aware)</a:t>
            </a:r>
          </a:p>
          <a:p>
            <a:pPr algn="l">
              <a:lnSpc>
                <a:spcPct val="105000"/>
              </a:lnSpc>
              <a:spcBef>
                <a:spcPts val="0"/>
              </a:spcBef>
              <a:spcAft>
                <a:spcPts val="400"/>
              </a:spcAft>
              <a:buFont typeface="Arial"/>
              <a:buChar char="▪"/>
            </a:pPr>
            <a:r>
              <a:rPr sz="1500" b="1" i="0">
                <a:solidFill>
                  <a:srgbClr val="1F2A24"/>
                </a:solidFill>
                <a:latin typeface="Calibri"/>
              </a:rPr>
              <a:t>Novelty logic: only an APPROVED-here molecule disqualifies a 505(b)(2) claim; prior lower-phase work de-risks it</a:t>
            </a:r>
          </a:p>
          <a:p>
            <a:pPr algn="l">
              <a:lnSpc>
                <a:spcPct val="105000"/>
              </a:lnSpc>
              <a:spcBef>
                <a:spcPts val="0"/>
              </a:spcBef>
              <a:spcAft>
                <a:spcPts val="400"/>
              </a:spcAft>
              <a:buFont typeface="Arial"/>
              <a:buChar char="▪"/>
            </a:pPr>
            <a:r>
              <a:rPr sz="1500" b="1" i="0">
                <a:solidFill>
                  <a:srgbClr val="1F2A24"/>
                </a:solidFill>
                <a:latin typeface="Calibri"/>
              </a:rPr>
              <a:t>orange_book.py — authoritative FDA patent &amp; exclusivity status (is the IP window open?)</a:t>
            </a:r>
          </a:p>
          <a:p>
            <a:pPr algn="l">
              <a:lnSpc>
                <a:spcPct val="105000"/>
              </a:lnSpc>
              <a:spcBef>
                <a:spcPts val="0"/>
              </a:spcBef>
              <a:spcAft>
                <a:spcPts val="400"/>
              </a:spcAft>
              <a:buFont typeface="Arial"/>
              <a:buChar char="▪"/>
            </a:pPr>
            <a:r>
              <a:rPr sz="1500" b="0" i="0">
                <a:solidFill>
                  <a:srgbClr val="1F2A24"/>
                </a:solidFill>
                <a:latin typeface="Calibri"/>
              </a:rPr>
              <a:t>approval_supplement.py — corrects per-indication phase lag so the verdict is current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Global Regulatory Landscape &amp; Signals</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global_landscape.py + acquisition_signal.py</a:t>
            </a:r>
          </a:p>
        </p:txBody>
      </p:sp>
      <p:sp>
        <p:nvSpPr>
          <p:cNvPr id="5" name="TextBox 4"/>
          <p:cNvSpPr txBox="1"/>
          <p:nvPr/>
        </p:nvSpPr>
        <p:spPr>
          <a:xfrm>
            <a:off x="548640" y="1325880"/>
            <a:ext cx="110642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global_landscape.py — one consolidated US / EU / India regulatory view (real data, not link tiles)</a:t>
            </a:r>
          </a:p>
          <a:p>
            <a:pPr algn="l">
              <a:lnSpc>
                <a:spcPct val="105000"/>
              </a:lnSpc>
              <a:spcBef>
                <a:spcPts val="0"/>
              </a:spcBef>
              <a:spcAft>
                <a:spcPts val="400"/>
              </a:spcAft>
              <a:buFont typeface="Arial"/>
              <a:buChar char="▪"/>
            </a:pPr>
            <a:r>
              <a:rPr sz="1500" b="1" i="0">
                <a:solidFill>
                  <a:srgbClr val="1F2A24"/>
                </a:solidFill>
                <a:latin typeface="Calibri"/>
              </a:rPr>
              <a:t>Pulls FDA, EMA, MHRA, CTRI/CDSCO to show where a drug↔indication already stands globally</a:t>
            </a:r>
          </a:p>
          <a:p>
            <a:pPr algn="l">
              <a:lnSpc>
                <a:spcPct val="105000"/>
              </a:lnSpc>
              <a:spcBef>
                <a:spcPts val="0"/>
              </a:spcBef>
              <a:spcAft>
                <a:spcPts val="400"/>
              </a:spcAft>
              <a:buFont typeface="Arial"/>
              <a:buChar char="▪"/>
            </a:pPr>
            <a:r>
              <a:rPr sz="1500" b="1" i="0">
                <a:solidFill>
                  <a:srgbClr val="1F2A24"/>
                </a:solidFill>
                <a:latin typeface="Calibri"/>
              </a:rPr>
              <a:t>acquisition_signal.py — asset-acquisition signal from Orange Book / market status (is this a buy signal?)</a:t>
            </a:r>
          </a:p>
          <a:p>
            <a:pPr algn="l">
              <a:lnSpc>
                <a:spcPct val="105000"/>
              </a:lnSpc>
              <a:spcBef>
                <a:spcPts val="0"/>
              </a:spcBef>
              <a:spcAft>
                <a:spcPts val="400"/>
              </a:spcAft>
              <a:buFont typeface="Arial"/>
              <a:buChar char="▪"/>
            </a:pPr>
            <a:r>
              <a:rPr sz="1500" b="0" i="0">
                <a:solidFill>
                  <a:srgbClr val="1F2A24"/>
                </a:solidFill>
                <a:latin typeface="Calibri"/>
              </a:rPr>
              <a:t>class_comparison.py — is the effect class-wide or drug-specific (differentiation / freedom-to-operate)?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Portfolio Matching</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portfolio.py — fit to the client's assets</a:t>
            </a:r>
          </a:p>
        </p:txBody>
      </p:sp>
      <p:sp>
        <p:nvSpPr>
          <p:cNvPr id="5" name="TextBox 4"/>
          <p:cNvSpPr txBox="1"/>
          <p:nvPr/>
        </p:nvSpPr>
        <p:spPr>
          <a:xfrm>
            <a:off x="548640" y="1325880"/>
            <a:ext cx="110642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Matches surfaced candidates against the client's existing portfolio (the Alembic 505(b)(2) engagement)</a:t>
            </a:r>
          </a:p>
          <a:p>
            <a:pPr algn="l">
              <a:lnSpc>
                <a:spcPct val="105000"/>
              </a:lnSpc>
              <a:spcBef>
                <a:spcPts val="0"/>
              </a:spcBef>
              <a:spcAft>
                <a:spcPts val="400"/>
              </a:spcAft>
              <a:buFont typeface="Arial"/>
              <a:buChar char="▪"/>
            </a:pPr>
            <a:r>
              <a:rPr sz="1500" b="1" i="0">
                <a:solidFill>
                  <a:srgbClr val="1F2A24"/>
                </a:solidFill>
                <a:latin typeface="Calibri"/>
              </a:rPr>
              <a:t>Flags and boosts molecules already in-house → immediately actionable, 505(b)(2)-ready leads</a:t>
            </a:r>
          </a:p>
          <a:p>
            <a:pPr algn="l">
              <a:lnSpc>
                <a:spcPct val="105000"/>
              </a:lnSpc>
              <a:spcBef>
                <a:spcPts val="0"/>
              </a:spcBef>
              <a:spcAft>
                <a:spcPts val="400"/>
              </a:spcAft>
              <a:buFont typeface="Arial"/>
              <a:buChar char="▪"/>
            </a:pPr>
            <a:r>
              <a:rPr sz="1500" b="0" i="0">
                <a:solidFill>
                  <a:srgbClr val="1F2A24"/>
                </a:solidFill>
                <a:latin typeface="Calibri"/>
              </a:rPr>
              <a:t>Turns a generic repurposing hit into a specific, ownable opportunity for the partner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Cross-Cutting Infrastructure</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The glue that makes it robust</a:t>
            </a:r>
          </a:p>
        </p:txBody>
      </p:sp>
      <p:sp>
        <p:nvSpPr>
          <p:cNvPr id="5" name="TextBox 4"/>
          <p:cNvSpPr txBox="1"/>
          <p:nvPr/>
        </p:nvSpPr>
        <p:spPr>
          <a:xfrm>
            <a:off x="548640" y="1325880"/>
            <a:ext cx="110642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config.py — single source of DB and environment configuration (no hardcoded credentials; .env-driven)</a:t>
            </a:r>
          </a:p>
          <a:p>
            <a:pPr algn="l">
              <a:lnSpc>
                <a:spcPct val="105000"/>
              </a:lnSpc>
              <a:spcBef>
                <a:spcPts val="0"/>
              </a:spcBef>
              <a:spcAft>
                <a:spcPts val="400"/>
              </a:spcAft>
              <a:buFont typeface="Arial"/>
              <a:buChar char="▪"/>
            </a:pPr>
            <a:r>
              <a:rPr sz="1500" b="1" i="0">
                <a:solidFill>
                  <a:srgbClr val="1F2A24"/>
                </a:solidFill>
                <a:latin typeface="Calibri"/>
              </a:rPr>
              <a:t>http_client.py — one HTTP client for every external call: retry, backoff, sane timeouts</a:t>
            </a:r>
          </a:p>
          <a:p>
            <a:pPr algn="l">
              <a:lnSpc>
                <a:spcPct val="105000"/>
              </a:lnSpc>
              <a:spcBef>
                <a:spcPts val="0"/>
              </a:spcBef>
              <a:spcAft>
                <a:spcPts val="400"/>
              </a:spcAft>
              <a:buFont typeface="Arial"/>
              <a:buChar char="▪"/>
            </a:pPr>
            <a:r>
              <a:rPr sz="1500" b="1" i="0">
                <a:solidFill>
                  <a:srgbClr val="1F2A24"/>
                </a:solidFill>
                <a:latin typeface="Calibri"/>
              </a:rPr>
              <a:t>diskcache.py — disk-backed cache shared across services (30-day TTLs for structures, etc.)</a:t>
            </a:r>
          </a:p>
          <a:p>
            <a:pPr algn="l">
              <a:lnSpc>
                <a:spcPct val="105000"/>
              </a:lnSpc>
              <a:spcBef>
                <a:spcPts val="0"/>
              </a:spcBef>
              <a:spcAft>
                <a:spcPts val="400"/>
              </a:spcAft>
              <a:buFont typeface="Arial"/>
              <a:buChar char="▪"/>
            </a:pPr>
            <a:r>
              <a:rPr sz="1500" b="1" i="0">
                <a:solidFill>
                  <a:srgbClr val="1F2A24"/>
                </a:solidFill>
                <a:latin typeface="Calibri"/>
              </a:rPr>
              <a:t>safety_filter.py — shared FAERS toxicity profiles reused by the scorer and CCH (one network, cached)</a:t>
            </a:r>
          </a:p>
          <a:p>
            <a:pPr algn="l">
              <a:lnSpc>
                <a:spcPct val="105000"/>
              </a:lnSpc>
              <a:spcBef>
                <a:spcPts val="0"/>
              </a:spcBef>
              <a:spcAft>
                <a:spcPts val="400"/>
              </a:spcAft>
              <a:buFont typeface="Arial"/>
              <a:buChar char="▪"/>
            </a:pPr>
            <a:r>
              <a:rPr sz="1500" b="1" i="0">
                <a:solidFill>
                  <a:srgbClr val="1F2A24"/>
                </a:solidFill>
                <a:latin typeface="Calibri"/>
              </a:rPr>
              <a:t>Fail-soft everywhere — a down dependency degrades a feature, never the platform</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F2A24"/>
        </a:solidFill>
        <a:effectLst/>
      </p:bgPr>
    </p:bg>
    <p:spTree>
      <p:nvGrpSpPr>
        <p:cNvPr id="1" name=""/>
        <p:cNvGrpSpPr/>
        <p:nvPr/>
      </p:nvGrpSpPr>
      <p:grpSpPr/>
      <p:sp>
        <p:nvSpPr>
          <p:cNvPr id="2" name="TextBox 1"/>
          <p:cNvSpPr txBox="1"/>
          <p:nvPr/>
        </p:nvSpPr>
        <p:spPr>
          <a:xfrm>
            <a:off x="822960" y="2651760"/>
            <a:ext cx="1828800" cy="91440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6000" b="1" i="0">
                <a:solidFill>
                  <a:srgbClr val="B8860B"/>
                </a:solidFill>
                <a:latin typeface="Calibri"/>
              </a:rPr>
              <a:t>06</a:t>
            </a:r>
          </a:p>
        </p:txBody>
      </p:sp>
      <p:sp>
        <p:nvSpPr>
          <p:cNvPr id="3" name="TextBox 2"/>
          <p:cNvSpPr txBox="1"/>
          <p:nvPr/>
        </p:nvSpPr>
        <p:spPr>
          <a:xfrm>
            <a:off x="822960" y="3657600"/>
            <a:ext cx="10515600" cy="128016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3400" b="1" i="0">
                <a:solidFill>
                  <a:srgbClr val="FFFDF9"/>
                </a:solidFill>
                <a:latin typeface="Calibri"/>
              </a:rPr>
              <a:t>Validation Posture &amp; Roadmap</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Data-Quality &amp; Validation Posture</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Built for a skeptical pharma audience</a:t>
            </a:r>
          </a:p>
        </p:txBody>
      </p:sp>
      <p:sp>
        <p:nvSpPr>
          <p:cNvPr id="5" name="TextBox 4"/>
          <p:cNvSpPr txBox="1"/>
          <p:nvPr/>
        </p:nvSpPr>
        <p:spPr>
          <a:xfrm>
            <a:off x="548640" y="1325880"/>
            <a:ext cx="110642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Pharma distrust is of the DATA — so we validate once, at the data layer (the DATA_QUALITY workstream)</a:t>
            </a:r>
          </a:p>
          <a:p>
            <a:pPr algn="l">
              <a:lnSpc>
                <a:spcPct val="105000"/>
              </a:lnSpc>
              <a:spcBef>
                <a:spcPts val="0"/>
              </a:spcBef>
              <a:spcAft>
                <a:spcPts val="400"/>
              </a:spcAft>
              <a:buFont typeface="Arial"/>
              <a:buChar char="▪"/>
            </a:pPr>
            <a:r>
              <a:rPr sz="1500" b="1" i="0">
                <a:solidFill>
                  <a:srgbClr val="1F2A24"/>
                </a:solidFill>
                <a:latin typeface="Calibri"/>
              </a:rPr>
              <a:t>ChEMBL 33 restore-verified; POZ + cipherq share one integrity-checked database; a restore-verified backup exists</a:t>
            </a:r>
          </a:p>
          <a:p>
            <a:pPr algn="l">
              <a:lnSpc>
                <a:spcPct val="105000"/>
              </a:lnSpc>
              <a:spcBef>
                <a:spcPts val="0"/>
              </a:spcBef>
              <a:spcAft>
                <a:spcPts val="400"/>
              </a:spcAft>
              <a:buFont typeface="Arial"/>
              <a:buChar char="▪"/>
            </a:pPr>
            <a:r>
              <a:rPr sz="1500" b="1" i="0">
                <a:solidFill>
                  <a:srgbClr val="1F2A24"/>
                </a:solidFill>
                <a:latin typeface="Calibri"/>
              </a:rPr>
              <a:t>Every score has a transparent breakdown; every penalty is flagged with its reason</a:t>
            </a:r>
          </a:p>
          <a:p>
            <a:pPr algn="l">
              <a:lnSpc>
                <a:spcPct val="105000"/>
              </a:lnSpc>
              <a:spcBef>
                <a:spcPts val="0"/>
              </a:spcBef>
              <a:spcAft>
                <a:spcPts val="400"/>
              </a:spcAft>
              <a:buFont typeface="Arial"/>
              <a:buChar char="▪"/>
            </a:pPr>
            <a:r>
              <a:rPr sz="1500" b="1" i="0">
                <a:solidFill>
                  <a:srgbClr val="1F2A24"/>
                </a:solidFill>
                <a:latin typeface="Calibri"/>
              </a:rPr>
              <a:t>Confidence is stated honestly — enrichment vs random, validated plausibility where covered, PoS separately</a:t>
            </a:r>
          </a:p>
          <a:p>
            <a:pPr algn="l">
              <a:lnSpc>
                <a:spcPct val="105000"/>
              </a:lnSpc>
              <a:spcBef>
                <a:spcPts val="0"/>
              </a:spcBef>
              <a:spcAft>
                <a:spcPts val="400"/>
              </a:spcAft>
              <a:buFont typeface="Arial"/>
              <a:buChar char="▪"/>
            </a:pPr>
            <a:r>
              <a:rPr sz="1500" b="0" i="0">
                <a:solidFill>
                  <a:srgbClr val="1F2A24"/>
                </a:solidFill>
                <a:latin typeface="Calibri"/>
              </a:rPr>
              <a:t>The Validation page (/validation) tells the data-quality story end-to-end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Honesty Scorecard</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What is validated vs. what is an estimate</a:t>
            </a:r>
          </a:p>
        </p:txBody>
      </p:sp>
      <p:sp>
        <p:nvSpPr>
          <p:cNvPr id="5" name="TextBox 4"/>
          <p:cNvSpPr txBox="1"/>
          <p:nvPr/>
        </p:nvSpPr>
        <p:spPr>
          <a:xfrm>
            <a:off x="548640" y="1325880"/>
            <a:ext cx="55778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Validated (gold standard)</a:t>
            </a:r>
          </a:p>
          <a:p>
            <a:pPr algn="l" lvl="1">
              <a:lnSpc>
                <a:spcPct val="105000"/>
              </a:lnSpc>
              <a:spcBef>
                <a:spcPts val="0"/>
              </a:spcBef>
              <a:spcAft>
                <a:spcPts val="400"/>
              </a:spcAft>
              <a:buFont typeface="Arial"/>
              <a:buChar char="▪"/>
            </a:pPr>
            <a:r>
              <a:rPr sz="1350" b="0" i="0">
                <a:solidFill>
                  <a:srgbClr val="45524A"/>
                </a:solidFill>
                <a:latin typeface="Calibri"/>
              </a:rPr>
              <a:t>DWPC plausibility predictor — AUC 0.978, compound-disjoint</a:t>
            </a:r>
          </a:p>
          <a:p>
            <a:pPr algn="l" lvl="1">
              <a:lnSpc>
                <a:spcPct val="105000"/>
              </a:lnSpc>
              <a:spcBef>
                <a:spcPts val="0"/>
              </a:spcBef>
              <a:spcAft>
                <a:spcPts val="400"/>
              </a:spcAft>
              <a:buFont typeface="Arial"/>
              <a:buChar char="▪"/>
            </a:pPr>
            <a:r>
              <a:rPr sz="1350" b="0" i="0">
                <a:solidFill>
                  <a:srgbClr val="45524A"/>
                </a:solidFill>
                <a:latin typeface="Calibri"/>
              </a:rPr>
              <a:t>Docking — imatinib redock 0.24 Å, −12.6 kcal/mol</a:t>
            </a:r>
          </a:p>
          <a:p>
            <a:pPr algn="l">
              <a:lnSpc>
                <a:spcPct val="105000"/>
              </a:lnSpc>
              <a:spcBef>
                <a:spcPts val="0"/>
              </a:spcBef>
              <a:spcAft>
                <a:spcPts val="400"/>
              </a:spcAft>
              <a:buFont typeface="Arial"/>
              <a:buChar char="▪"/>
            </a:pPr>
            <a:r>
              <a:rPr sz="1500" b="1" i="0">
                <a:solidFill>
                  <a:srgbClr val="1F2A24"/>
                </a:solidFill>
                <a:latin typeface="Calibri"/>
              </a:rPr>
              <a:t>Real computation (not outcome-validated)</a:t>
            </a:r>
          </a:p>
          <a:p>
            <a:pPr algn="l" lvl="1">
              <a:lnSpc>
                <a:spcPct val="105000"/>
              </a:lnSpc>
              <a:spcBef>
                <a:spcPts val="0"/>
              </a:spcBef>
              <a:spcAft>
                <a:spcPts val="400"/>
              </a:spcAft>
              <a:buFont typeface="Arial"/>
              <a:buChar char="▪"/>
            </a:pPr>
            <a:r>
              <a:rPr sz="1350" b="0" i="0">
                <a:solidFill>
                  <a:srgbClr val="45524A"/>
                </a:solidFill>
                <a:latin typeface="Calibri"/>
              </a:rPr>
              <a:t>Quantum chemistry (GFN2-xTB), PBPK ODE model</a:t>
            </a:r>
          </a:p>
          <a:p>
            <a:pPr algn="l" lvl="1">
              <a:lnSpc>
                <a:spcPct val="105000"/>
              </a:lnSpc>
              <a:spcBef>
                <a:spcPts val="0"/>
              </a:spcBef>
              <a:spcAft>
                <a:spcPts val="400"/>
              </a:spcAft>
              <a:buFont typeface="Arial"/>
              <a:buChar char="▪"/>
            </a:pPr>
            <a:r>
              <a:rPr sz="1350" b="0" i="0">
                <a:solidFill>
                  <a:srgbClr val="45524A"/>
                </a:solidFill>
                <a:latin typeface="Calibri"/>
              </a:rPr>
              <a:t>Mechanistic evidence scores (target/pathway/PPI)</a:t>
            </a:r>
          </a:p>
        </p:txBody>
      </p:sp>
      <p:sp>
        <p:nvSpPr>
          <p:cNvPr id="6" name="Rounded Rectangle 5"/>
          <p:cNvSpPr/>
          <p:nvPr/>
        </p:nvSpPr>
        <p:spPr>
          <a:xfrm>
            <a:off x="6172200" y="1371600"/>
            <a:ext cx="12700" cy="4846320"/>
          </a:xfrm>
          <a:prstGeom prst="roundRect">
            <a:avLst>
              <a:gd name="adj" fmla="val 6000"/>
            </a:avLst>
          </a:prstGeom>
          <a:solidFill>
            <a:srgbClr val="D8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55080" y="1325880"/>
            <a:ext cx="548640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Heuristic / transparent estimate</a:t>
            </a:r>
          </a:p>
          <a:p>
            <a:pPr algn="l" lvl="1">
              <a:lnSpc>
                <a:spcPct val="105000"/>
              </a:lnSpc>
              <a:spcBef>
                <a:spcPts val="0"/>
              </a:spcBef>
              <a:spcAft>
                <a:spcPts val="400"/>
              </a:spcAft>
              <a:buFont typeface="Arial"/>
              <a:buChar char="▪"/>
            </a:pPr>
            <a:r>
              <a:rPr sz="1350" b="0" i="0">
                <a:solidFill>
                  <a:srgbClr val="45524A"/>
                </a:solidFill>
                <a:latin typeface="Calibri"/>
              </a:rPr>
              <a:t>Composite tier bands; PoS analytic base rates</a:t>
            </a:r>
          </a:p>
          <a:p>
            <a:pPr algn="l" lvl="1">
              <a:lnSpc>
                <a:spcPct val="105000"/>
              </a:lnSpc>
              <a:spcBef>
                <a:spcPts val="0"/>
              </a:spcBef>
              <a:spcAft>
                <a:spcPts val="400"/>
              </a:spcAft>
              <a:buFont typeface="Arial"/>
              <a:buChar char="▪"/>
            </a:pPr>
            <a:r>
              <a:rPr sz="1350" b="0" i="0">
                <a:solidFill>
                  <a:srgbClr val="45524A"/>
                </a:solidFill>
                <a:latin typeface="Calibri"/>
              </a:rPr>
              <a:t>Developability / CNS-MPO rule sets</a:t>
            </a:r>
          </a:p>
          <a:p>
            <a:pPr algn="l">
              <a:lnSpc>
                <a:spcPct val="105000"/>
              </a:lnSpc>
              <a:spcBef>
                <a:spcPts val="0"/>
              </a:spcBef>
              <a:spcAft>
                <a:spcPts val="400"/>
              </a:spcAft>
              <a:buFont typeface="Arial"/>
              <a:buChar char="▪"/>
            </a:pPr>
            <a:r>
              <a:rPr sz="1500" b="1" i="0">
                <a:solidFill>
                  <a:srgbClr val="1F2A24"/>
                </a:solidFill>
                <a:latin typeface="Calibri"/>
              </a:rPr>
              <a:t>Stated NEGATIVE result (honesty)</a:t>
            </a:r>
          </a:p>
          <a:p>
            <a:pPr algn="l" lvl="1">
              <a:lnSpc>
                <a:spcPct val="105000"/>
              </a:lnSpc>
              <a:spcBef>
                <a:spcPts val="0"/>
              </a:spcBef>
              <a:spcAft>
                <a:spcPts val="400"/>
              </a:spcAft>
              <a:buFont typeface="Arial"/>
              <a:buChar char="▪"/>
            </a:pPr>
            <a:r>
              <a:rPr sz="1350" b="0" i="0">
                <a:solidFill>
                  <a:srgbClr val="45524A"/>
                </a:solidFill>
                <a:latin typeface="Calibri"/>
              </a:rPr>
              <a:t>Clinical SUCCESS not predictable from graph (AUC 0.42)</a:t>
            </a:r>
          </a:p>
          <a:p>
            <a:pPr algn="l" lvl="1">
              <a:lnSpc>
                <a:spcPct val="105000"/>
              </a:lnSpc>
              <a:spcBef>
                <a:spcPts val="0"/>
              </a:spcBef>
              <a:spcAft>
                <a:spcPts val="400"/>
              </a:spcAft>
              <a:buFont typeface="Arial"/>
              <a:buChar char="▪"/>
            </a:pPr>
            <a:r>
              <a:rPr sz="1350" b="0" i="0">
                <a:solidFill>
                  <a:srgbClr val="45524A"/>
                </a:solidFill>
                <a:latin typeface="Calibri"/>
              </a:rPr>
              <a:t>→ plausibility labelled as triage, never as an oracle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Rounded Rectangle 1"/>
          <p:cNvSpPr/>
          <p:nvPr/>
        </p:nvSpPr>
        <p:spPr>
          <a:xfrm>
            <a:off x="0" y="0"/>
            <a:ext cx="12191695" cy="1051560"/>
          </a:xfrm>
          <a:prstGeom prst="roundRect">
            <a:avLst>
              <a:gd name="adj" fmla="val 6000"/>
            </a:avLst>
          </a:prstGeom>
          <a:solidFill>
            <a:srgbClr val="2F6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5486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2600" b="1" i="0">
                <a:solidFill>
                  <a:srgbClr val="FFFDF9"/>
                </a:solidFill>
                <a:latin typeface="Calibri"/>
              </a:rPr>
              <a:t>Roadmap</a:t>
            </a:r>
          </a:p>
        </p:txBody>
      </p:sp>
      <p:sp>
        <p:nvSpPr>
          <p:cNvPr id="4" name="TextBox 3"/>
          <p:cNvSpPr txBox="1"/>
          <p:nvPr/>
        </p:nvSpPr>
        <p:spPr>
          <a:xfrm>
            <a:off x="566928" y="685800"/>
            <a:ext cx="11155680" cy="32004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300" b="0" i="0">
                <a:solidFill>
                  <a:srgbClr val="CFE0D8"/>
                </a:solidFill>
                <a:latin typeface="Calibri"/>
              </a:rPr>
              <a:t>Where it goes next</a:t>
            </a:r>
          </a:p>
        </p:txBody>
      </p:sp>
      <p:sp>
        <p:nvSpPr>
          <p:cNvPr id="5" name="TextBox 4"/>
          <p:cNvSpPr txBox="1"/>
          <p:nvPr/>
        </p:nvSpPr>
        <p:spPr>
          <a:xfrm>
            <a:off x="548640" y="1325880"/>
            <a:ext cx="11064240" cy="5120640"/>
          </a:xfrm>
          <a:prstGeom prst="rect">
            <a:avLst/>
          </a:prstGeom>
          <a:noFill/>
        </p:spPr>
        <p:txBody>
          <a:bodyPr wrap="square" anchor="t" lIns="45720" rIns="45720" tIns="18288" bIns="18288">
            <a:spAutoFit/>
          </a:bodyPr>
          <a:lstStyle/>
          <a:p>
            <a:pPr algn="l">
              <a:lnSpc>
                <a:spcPct val="105000"/>
              </a:lnSpc>
              <a:spcBef>
                <a:spcPts val="0"/>
              </a:spcBef>
              <a:spcAft>
                <a:spcPts val="400"/>
              </a:spcAft>
              <a:buFont typeface="Arial"/>
              <a:buChar char="▪"/>
            </a:pPr>
            <a:r>
              <a:rPr sz="1500" b="1" i="0">
                <a:solidFill>
                  <a:srgbClr val="1F2A24"/>
                </a:solidFill>
                <a:latin typeface="Calibri"/>
              </a:rPr>
              <a:t>Refresh the knowledge graph beyond Hetionet (~2016) → wider, current coverage for the predictor</a:t>
            </a:r>
          </a:p>
          <a:p>
            <a:pPr algn="l">
              <a:lnSpc>
                <a:spcPct val="105000"/>
              </a:lnSpc>
              <a:spcBef>
                <a:spcPts val="0"/>
              </a:spcBef>
              <a:spcAft>
                <a:spcPts val="400"/>
              </a:spcAft>
              <a:buFont typeface="Arial"/>
              <a:buChar char="▪"/>
            </a:pPr>
            <a:r>
              <a:rPr sz="1500" b="1" i="0">
                <a:solidFill>
                  <a:srgbClr val="1F2A24"/>
                </a:solidFill>
                <a:latin typeface="Calibri"/>
              </a:rPr>
              <a:t>Explore a weak-but-real SUCCESS signal: genetic-evidence + clinical features (Nelson 2015 ~2× effect)</a:t>
            </a:r>
          </a:p>
          <a:p>
            <a:pPr algn="l">
              <a:lnSpc>
                <a:spcPct val="105000"/>
              </a:lnSpc>
              <a:spcBef>
                <a:spcPts val="0"/>
              </a:spcBef>
              <a:spcAft>
                <a:spcPts val="400"/>
              </a:spcAft>
              <a:buFont typeface="Arial"/>
              <a:buChar char="▪"/>
            </a:pPr>
            <a:r>
              <a:rPr sz="1500" b="1" i="0">
                <a:solidFill>
                  <a:srgbClr val="1F2A24"/>
                </a:solidFill>
                <a:latin typeface="Calibri"/>
              </a:rPr>
              <a:t>Clean pose chemistry (Meeko RDKitMolCreate export) + automated redocking-RMSD gate on every dock</a:t>
            </a:r>
          </a:p>
          <a:p>
            <a:pPr algn="l">
              <a:lnSpc>
                <a:spcPct val="105000"/>
              </a:lnSpc>
              <a:spcBef>
                <a:spcPts val="0"/>
              </a:spcBef>
              <a:spcAft>
                <a:spcPts val="400"/>
              </a:spcAft>
              <a:buFont typeface="Arial"/>
              <a:buChar char="▪"/>
            </a:pPr>
            <a:r>
              <a:rPr sz="1500" b="1" i="0">
                <a:solidFill>
                  <a:srgbClr val="1F2A24"/>
                </a:solidFill>
                <a:latin typeface="Calibri"/>
              </a:rPr>
              <a:t>Broaden portfolio &amp; regulatory coverage (more registries, live IP monitoring)</a:t>
            </a:r>
          </a:p>
          <a:p>
            <a:pPr algn="l">
              <a:lnSpc>
                <a:spcPct val="105000"/>
              </a:lnSpc>
              <a:spcBef>
                <a:spcPts val="0"/>
              </a:spcBef>
              <a:spcAft>
                <a:spcPts val="400"/>
              </a:spcAft>
              <a:buFont typeface="Arial"/>
              <a:buChar char="▪"/>
            </a:pPr>
            <a:r>
              <a:rPr sz="1500" b="0" i="0">
                <a:solidFill>
                  <a:srgbClr val="1F2A24"/>
                </a:solidFill>
                <a:latin typeface="Calibri"/>
              </a:rPr>
              <a:t>Productionize compute (job queue for docking/QM; precomputed DWPC cache shipped)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2F6F5B"/>
        </a:solidFill>
        <a:effectLst/>
      </p:bgPr>
    </p:bg>
    <p:spTree>
      <p:nvGrpSpPr>
        <p:cNvPr id="1" name=""/>
        <p:cNvGrpSpPr/>
        <p:nvPr/>
      </p:nvGrpSpPr>
      <p:grpSpPr/>
      <p:sp>
        <p:nvSpPr>
          <p:cNvPr id="2" name="Rounded Rectangle 1"/>
          <p:cNvSpPr/>
          <p:nvPr/>
        </p:nvSpPr>
        <p:spPr>
          <a:xfrm>
            <a:off x="0" y="0"/>
            <a:ext cx="292608" cy="6858000"/>
          </a:xfrm>
          <a:prstGeom prst="roundRect">
            <a:avLst>
              <a:gd name="adj" fmla="val 6000"/>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45720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1800" b="1" i="0">
                <a:solidFill>
                  <a:srgbClr val="CFE0D8"/>
                </a:solidFill>
                <a:latin typeface="Calibri"/>
              </a:rPr>
              <a:t>SUMMARY</a:t>
            </a:r>
          </a:p>
        </p:txBody>
      </p:sp>
      <p:sp>
        <p:nvSpPr>
          <p:cNvPr id="4" name="TextBox 3"/>
          <p:cNvSpPr txBox="1"/>
          <p:nvPr/>
        </p:nvSpPr>
        <p:spPr>
          <a:xfrm>
            <a:off x="822960" y="2468880"/>
            <a:ext cx="10515600" cy="1645920"/>
          </a:xfrm>
          <a:prstGeom prst="rect">
            <a:avLst/>
          </a:prstGeom>
          <a:noFill/>
        </p:spPr>
        <p:txBody>
          <a:bodyPr wrap="square" anchor="t" lIns="45720" rIns="45720" tIns="18288" bIns="18288">
            <a:spAutoFit/>
          </a:bodyPr>
          <a:lstStyle/>
          <a:p>
            <a:pPr algn="l">
              <a:lnSpc>
                <a:spcPct val="100000"/>
              </a:lnSpc>
              <a:spcBef>
                <a:spcPts val="0"/>
              </a:spcBef>
              <a:spcAft>
                <a:spcPts val="400"/>
              </a:spcAft>
            </a:pPr>
            <a:r>
              <a:rPr sz="4600" b="1" i="0">
                <a:solidFill>
                  <a:srgbClr val="FFFDF9"/>
                </a:solidFill>
                <a:latin typeface="Calibri"/>
              </a:rPr>
              <a:t>One engine, honestly measured</a:t>
            </a:r>
          </a:p>
        </p:txBody>
      </p:sp>
      <p:sp>
        <p:nvSpPr>
          <p:cNvPr id="5" name="TextBox 4"/>
          <p:cNvSpPr txBox="1"/>
          <p:nvPr/>
        </p:nvSpPr>
        <p:spPr>
          <a:xfrm>
            <a:off x="822960" y="4206240"/>
            <a:ext cx="10058400" cy="1097280"/>
          </a:xfrm>
          <a:prstGeom prst="rect">
            <a:avLst/>
          </a:prstGeom>
          <a:noFill/>
        </p:spPr>
        <p:txBody>
          <a:bodyPr wrap="square" anchor="t" lIns="45720" rIns="45720" tIns="18288" bIns="18288">
            <a:spAutoFit/>
          </a:bodyPr>
          <a:lstStyle/>
          <a:p>
            <a:pPr algn="l">
              <a:lnSpc>
                <a:spcPct val="115000"/>
              </a:lnSpc>
              <a:spcBef>
                <a:spcPts val="0"/>
              </a:spcBef>
              <a:spcAft>
                <a:spcPts val="400"/>
              </a:spcAft>
            </a:pPr>
            <a:r>
              <a:rPr sz="2000" b="0" i="0">
                <a:solidFill>
                  <a:srgbClr val="DCE7E1"/>
                </a:solidFill>
                <a:latin typeface="Calibri"/>
              </a:rPr>
              <a:t>Disease-agnostic repurposing across forward, reverse, pathway and novel-target entries — scored on real mechanistic, clinical, structural and regulatory evidence, with a validated plausibility predictor and an explicit, honest boundary on what it can and cannot claim.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